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bff37d66a9490d" /><Relationship Type="http://schemas.openxmlformats.org/officeDocument/2006/relationships/extended-properties" Target="/docProps/app.xml" Id="R83650b240cb94d23" /><Relationship Type="http://schemas.openxmlformats.org/officeDocument/2006/relationships/officeDocument" Target="/ppt/presentation.xml" Id="Raf53395f8b784f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63cd91cf0f4ea1"/>
  </p:sldMasterIdLst>
  <p:notesMasterIdLst>
    <p:notesMasterId xmlns:r="http://schemas.openxmlformats.org/officeDocument/2006/relationships" r:id="R24c51b8c5f294dca"/>
  </p:notesMasterIdLst>
  <p:sldIdLst>
    <p:sldId xmlns:r="http://schemas.openxmlformats.org/officeDocument/2006/relationships" id="256" r:id="Ra6cc553922bd4fe6"/>
    <p:sldId xmlns:r="http://schemas.openxmlformats.org/officeDocument/2006/relationships" id="257" r:id="R445a851148074e4a"/>
    <p:sldId xmlns:r="http://schemas.openxmlformats.org/officeDocument/2006/relationships" id="258" r:id="R035296ca511e40cd"/>
    <p:sldId xmlns:r="http://schemas.openxmlformats.org/officeDocument/2006/relationships" id="259" r:id="Rc14c4d59c54d4ce7"/>
    <p:sldId xmlns:r="http://schemas.openxmlformats.org/officeDocument/2006/relationships" id="260" r:id="Rb3149ba09a7c4f59"/>
    <p:sldId xmlns:r="http://schemas.openxmlformats.org/officeDocument/2006/relationships" id="261" r:id="R95acec03ab1c4b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7fba70ee074ff4" /><Relationship Type="http://schemas.openxmlformats.org/officeDocument/2006/relationships/slideMaster" Target="/ppt/slideMasters/slideMaster1.xml" Id="R1b63cd91cf0f4ea1" /><Relationship Type="http://schemas.openxmlformats.org/officeDocument/2006/relationships/notesMaster" Target="/ppt/notesMasters/notesMaster1.xml" Id="R24c51b8c5f294dca" /><Relationship Type="http://schemas.openxmlformats.org/officeDocument/2006/relationships/presProps" Target="/ppt/presProps.xml" Id="R5176b11b31114f43" /><Relationship Type="http://schemas.openxmlformats.org/officeDocument/2006/relationships/tableStyles" Target="/ppt/tableStyles.xml" Id="Rd169d1e79e204ddc" /><Relationship Type="http://schemas.openxmlformats.org/officeDocument/2006/relationships/slide" Target="/ppt/slides/slide1.xml" Id="Ra6cc553922bd4fe6" /><Relationship Type="http://schemas.openxmlformats.org/officeDocument/2006/relationships/slide" Target="/ppt/slides/slide2.xml" Id="R445a851148074e4a" /><Relationship Type="http://schemas.openxmlformats.org/officeDocument/2006/relationships/slide" Target="/ppt/slides/slide3.xml" Id="R035296ca511e40cd" /><Relationship Type="http://schemas.openxmlformats.org/officeDocument/2006/relationships/slide" Target="/ppt/slides/slide4.xml" Id="Rc14c4d59c54d4ce7" /><Relationship Type="http://schemas.openxmlformats.org/officeDocument/2006/relationships/slide" Target="/ppt/slides/slide5.xml" Id="Rb3149ba09a7c4f59" /><Relationship Type="http://schemas.openxmlformats.org/officeDocument/2006/relationships/slide" Target="/ppt/slides/slide6.xml" Id="R95acec03ab1c4b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496f46446d49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42875" dist="69343" dir="4443276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b41cb1851a41cf" /><Relationship Type="http://schemas.openxmlformats.org/officeDocument/2006/relationships/notesMaster" Target="/ppt/notesMasters/notesMaster1.xml" Id="Rc4c2dedfcf474a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45dbe16d434348" /><Relationship Type="http://schemas.openxmlformats.org/officeDocument/2006/relationships/notesMaster" Target="/ppt/notesMasters/notesMaster1.xml" Id="Rab55fbfecf594f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8948502acf42c0" /><Relationship Type="http://schemas.openxmlformats.org/officeDocument/2006/relationships/notesMaster" Target="/ppt/notesMasters/notesMaster1.xml" Id="R7c62fc8012994c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002eb27e2041a1" /><Relationship Type="http://schemas.openxmlformats.org/officeDocument/2006/relationships/notesMaster" Target="/ppt/notesMasters/notesMaster1.xml" Id="R11001275092641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aafa43b2fd4b31" /><Relationship Type="http://schemas.openxmlformats.org/officeDocument/2006/relationships/notesMaster" Target="/ppt/notesMasters/notesMaster1.xml" Id="Rc5d80ff0d3f848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f15bae2fcb416c" /><Relationship Type="http://schemas.openxmlformats.org/officeDocument/2006/relationships/notesMaster" Target="/ppt/notesMasters/notesMaster1.xml" Id="R240986905eef48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Сопоставить два процесса. Внизу появляется такой же ранний контроль качества, который уже привычен в разработке.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/Users/v.enbaev/Downloads/МТС.pdf — стр. 1, пользовательская схема двух циклов.</a:t>
            </a:r>
          </a:p>
          <a:p xmlns:a="http://schemas.openxmlformats.org/drawingml/2006/main">
            <a:r>
              <a:t>- knowledge/product.md — продуктовая идея предварительного ревью.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архитектурную мысль: ядро остаётся единым, а доменная роль, правила и контекст меняются под команду.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/Users/v.enbaev/Downloads/МТС.pdf — стр. 2, пользовательская схема платформы и первого домена.</a:t>
            </a:r>
          </a:p>
          <a:p xmlns:a="http://schemas.openxmlformats.org/drawingml/2006/main">
            <a:r>
              <a:t>- knowledge/product.md — общее ядро и клиентский контекст.</a:t>
            </a:r>
          </a:p>
          <a:p xmlns:a="http://schemas.openxmlformats.org/drawingml/2006/main">
            <a:r>
              <a:t>- knowledge/hypotheses-v2.md — каналы доступа, профили и переносимость.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базовый режим как короткий линейный процесс: документ входит, адресные замечания возвращаются аналитику, решение остаётся у человека.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/Users/v.enbaev/Downloads/МТС.pdf — стр. 3, акцент «Простое решение».</a:t>
            </a:r>
          </a:p>
          <a:p xmlns:a="http://schemas.openxmlformats.org/drawingml/2006/main">
            <a:r>
              <a:t>- implementation/poc/PLAN.md — устройство однократного ревью и формат отчёта.</a:t>
            </a:r>
          </a:p>
          <a:p xmlns:a="http://schemas.openxmlformats.org/drawingml/2006/main">
            <a:r>
              <a:t>- knowledge/hypotheses-v2.md — режим 1.1 и формат результата 4.1–4.2.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Сохранить две дорожки внутри рамки: быстрый список и последовательный диалог. Главное отличие — по одному вопросу и с сохранением выбранного контекста.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/Users/v.enbaev/Downloads/МТС.pdf — стр. 4, пользовательская схема двух режимов.</a:t>
            </a:r>
          </a:p>
          <a:p xmlns:a="http://schemas.openxmlformats.org/drawingml/2006/main">
            <a:r>
              <a:t>- knowledge/hypotheses-v2.md — режим диалога 1.2.</a:t>
            </a:r>
          </a:p>
          <a:p xmlns:a="http://schemas.openxmlformats.org/drawingml/2006/main">
            <a:r>
              <a:t>- knowledge/product.md — адресное замечание, вопрос и решение человека.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разрыв: соседние инструменты закрывают отдельные части процесса, а наше решение связывает их вокруг работы аналитика и контекста команды.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knowledge/requirements-workflow-evidence.md — обзор соседних решений.</a:t>
            </a:r>
          </a:p>
          <a:p xmlns:a="http://schemas.openxmlformats.org/drawingml/2006/main">
            <a:r>
              <a:t>- knowledge/product.md — продуктовая рамка и human-in-loop.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промежуточная презентация полного маршрута реализации. Три этапа показывают не сокращение объёма, а последовательность сборки всего контура, описанного в базе знаний.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knowledge/roadmap.md — три этапа: PoC, самостоятельный движок ревью, сервис с фронтендом.</a:t>
            </a:r>
          </a:p>
          <a:p xmlns:a="http://schemas.openxmlformats.org/drawingml/2006/main">
            <a:r>
              <a:t>- implementation/poc/PLAN.md — детальный состав первого этапа.</a:t>
            </a:r>
          </a:p>
          <a:p xmlns:a="http://schemas.openxmlformats.org/drawingml/2006/main">
            <a:r>
              <a:t>- knowledge/hypotheses-v2.md — полный набор продуктовых направлений.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de626bac340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1621c262664313" /><Relationship Type="http://schemas.openxmlformats.org/officeDocument/2006/relationships/slideLayout" Target="/ppt/slideLayouts/slideLayout1.xml" Id="R2092da32d6e245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92da32d6e245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eeb2a224f4725" /><Relationship Type="http://schemas.openxmlformats.org/officeDocument/2006/relationships/notesSlide" Target="/ppt/notesSlides/notesSlide1.xml" Id="R0739e57057fe49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6344db7af419b" /><Relationship Type="http://schemas.openxmlformats.org/officeDocument/2006/relationships/notesSlide" Target="/ppt/notesSlides/notesSlide2.xml" Id="Rb530400cdb924e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466607bdf4074" /><Relationship Type="http://schemas.openxmlformats.org/officeDocument/2006/relationships/notesSlide" Target="/ppt/notesSlides/notesSlide3.xml" Id="R5e499fcb716748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605d669534415" /><Relationship Type="http://schemas.openxmlformats.org/officeDocument/2006/relationships/notesSlide" Target="/ppt/notesSlides/notesSlide4.xml" Id="R3d5e9d48f7a947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56fa3be414783" /><Relationship Type="http://schemas.openxmlformats.org/officeDocument/2006/relationships/notesSlide" Target="/ppt/notesSlides/notesSlide5.xml" Id="Rc69b15de3f8f45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e806edc9e4dd2" /><Relationship Type="http://schemas.openxmlformats.org/officeDocument/2006/relationships/notesSlide" Target="/ppt/notesSlides/notesSlide6.xml" Id="Re6ae7817efd741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accent-1">
            <a:extLst xmlns:a="http://schemas.openxmlformats.org/drawingml/2006/main">
              <a:ext uri="{FF2B5EF4-FFF2-40B4-BE49-F238E27FC236}">
                <a16:creationId xmlns:a16="http://schemas.microsoft.com/office/drawing/2014/main" id="{6F5A2569-2F56-45A9-9923-20277B7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">
            <a:extLst xmlns:a="http://schemas.openxmlformats.org/drawingml/2006/main">
              <a:ext uri="{FF2B5EF4-FFF2-40B4-BE49-F238E27FC236}">
                <a16:creationId xmlns:a16="http://schemas.microsoft.com/office/drawing/2014/main" id="{056A8E41-FFC4-48C3-8E35-EC73E097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ПРОДУКТОВАЯ ИДЕЯ · DRAFT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56026052-192F-41EB-9E03-6C119B6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Ранние проверки нужны не только коду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C711EEA0-9E32-48F4-93E3-0FCDEDC3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B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707A"/>
                </a:solidFill>
                <a:latin typeface="Arial"/>
                <a:ea typeface="Arial"/>
                <a:cs typeface="Arial"/>
              </a:rPr>
              <a:t>Переносим привычный инженерный принцип в аналитику: проверяем смысл требований до разработки.</a:t>
            </a:r>
          </a:p>
        </p:txBody>
      </p:sp>
      <p:sp>
        <p:nvSpPr>
          <p:cNvPr id="5" name="lane-top">
            <a:extLst xmlns:a="http://schemas.openxmlformats.org/drawingml/2006/main">
              <a:ext uri="{FF2B5EF4-FFF2-40B4-BE49-F238E27FC236}">
                <a16:creationId xmlns:a16="http://schemas.microsoft.com/office/drawing/2014/main" id="{CCC6EBAD-7FEE-4296-92E0-13A04F3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02124"/>
            </a:solidFill>
            <a:prstDash val="solid"/>
          </a:ln>
        </p:spPr>
      </p:sp>
      <p:sp>
        <p:nvSpPr>
          <p:cNvPr id="6" name="lane-top-label">
            <a:extLst xmlns:a="http://schemas.openxmlformats.org/drawingml/2006/main">
              <a:ext uri="{FF2B5EF4-FFF2-40B4-BE49-F238E27FC236}">
                <a16:creationId xmlns:a16="http://schemas.microsoft.com/office/drawing/2014/main" id="{38C2C8D3-30F4-416D-B2EE-B78CF7B4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7" name="arrow-top-1">
            <a:extLst xmlns:a="http://schemas.openxmlformats.org/drawingml/2006/main">
              <a:ext uri="{FF2B5EF4-FFF2-40B4-BE49-F238E27FC236}">
                <a16:creationId xmlns:a16="http://schemas.microsoft.com/office/drawing/2014/main" id="{58062D39-813B-479B-BBBC-09540683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0350"/>
            <a:ext cx="1809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8" name="arrow-top-2">
            <a:extLst xmlns:a="http://schemas.openxmlformats.org/drawingml/2006/main">
              <a:ext uri="{FF2B5EF4-FFF2-40B4-BE49-F238E27FC236}">
                <a16:creationId xmlns:a16="http://schemas.microsoft.com/office/drawing/2014/main" id="{F8C70D69-5139-4AD6-BDF1-741905A0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1676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9" name="arrow-top-3">
            <a:extLst xmlns:a="http://schemas.openxmlformats.org/drawingml/2006/main">
              <a:ext uri="{FF2B5EF4-FFF2-40B4-BE49-F238E27FC236}">
                <a16:creationId xmlns:a16="http://schemas.microsoft.com/office/drawing/2014/main" id="{842848EB-F334-43CC-89CE-D778D50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52725"/>
            <a:ext cx="876300" cy="17145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ev">
            <a:extLst xmlns:a="http://schemas.openxmlformats.org/drawingml/2006/main">
              <a:ext uri="{FF2B5EF4-FFF2-40B4-BE49-F238E27FC236}">
                <a16:creationId xmlns:a16="http://schemas.microsoft.com/office/drawing/2014/main" id="{47627F5B-24D3-4748-A94C-3B2617FF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390650" y="2505075"/>
            <a:ext cx="1619250" cy="895350"/>
          </a:xfrm>
          <a:prstGeom xmlns:a="http://schemas.openxmlformats.org/drawingml/2006/main" prst="roundRect">
            <a:avLst>
              <a:gd name="adj" fmla="val 1064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tests">
            <a:extLst xmlns:a="http://schemas.openxmlformats.org/drawingml/2006/main">
              <a:ext uri="{FF2B5EF4-FFF2-40B4-BE49-F238E27FC236}">
                <a16:creationId xmlns:a16="http://schemas.microsoft.com/office/drawing/2014/main" id="{989BA6DC-45D4-41D3-A2EF-9580B671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">
            <a:off x="5000625" y="2409825"/>
            <a:ext cx="1809750" cy="1009650"/>
          </a:xfrm>
          <a:prstGeom xmlns:a="http://schemas.openxmlformats.org/drawingml/2006/main" prst="roundRect">
            <a:avLst>
              <a:gd name="adj" fmla="val 943"/>
            </a:avLst>
          </a:prstGeom>
          <a:solidFill xmlns:a="http://schemas.openxmlformats.org/drawingml/2006/main">
            <a:srgbClr val="84E1A1"/>
          </a:solidFill>
          <a:ln xmlns:a="http://schemas.openxmlformats.org/drawingml/2006/main" w="4763">
            <a:solidFill>
              <a:srgbClr val="84E1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qa">
            <a:extLst xmlns:a="http://schemas.openxmlformats.org/drawingml/2006/main">
              <a:ext uri="{FF2B5EF4-FFF2-40B4-BE49-F238E27FC236}">
                <a16:creationId xmlns:a16="http://schemas.microsoft.com/office/drawing/2014/main" id="{E083345C-9567-45C0-92E8-0559865D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">
            <a:off x="8696325" y="2505075"/>
            <a:ext cx="1619250" cy="895350"/>
          </a:xfrm>
          <a:prstGeom xmlns:a="http://schemas.openxmlformats.org/drawingml/2006/main" prst="roundRect">
            <a:avLst>
              <a:gd name="adj" fmla="val 1064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feedback">
            <a:extLst xmlns:a="http://schemas.openxmlformats.org/drawingml/2006/main">
              <a:ext uri="{FF2B5EF4-FFF2-40B4-BE49-F238E27FC236}">
                <a16:creationId xmlns:a16="http://schemas.microsoft.com/office/drawing/2014/main" id="{859D9431-CC0B-4D63-B529-B89CD4CC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71750"/>
            <a:ext cx="9144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dev-t">
            <a:extLst xmlns:a="http://schemas.openxmlformats.org/drawingml/2006/main">
              <a:ext uri="{FF2B5EF4-FFF2-40B4-BE49-F238E27FC236}">
                <a16:creationId xmlns:a16="http://schemas.microsoft.com/office/drawing/2014/main" id="{5A1D20C8-8ABD-4130-BCC5-3716244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860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15" name="tests-t">
            <a:extLst xmlns:a="http://schemas.openxmlformats.org/drawingml/2006/main">
              <a:ext uri="{FF2B5EF4-FFF2-40B4-BE49-F238E27FC236}">
                <a16:creationId xmlns:a16="http://schemas.microsoft.com/office/drawing/2014/main" id="{E7B4A9C5-490C-4AFD-A31B-DE8C0D1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Автотесты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сужают воронку</a:t>
            </a:r>
          </a:p>
        </p:txBody>
      </p:sp>
      <p:sp>
        <p:nvSpPr>
          <p:cNvPr id="16" name="qa-t">
            <a:extLst xmlns:a="http://schemas.openxmlformats.org/drawingml/2006/main">
              <a:ext uri="{FF2B5EF4-FFF2-40B4-BE49-F238E27FC236}">
                <a16:creationId xmlns:a16="http://schemas.microsoft.com/office/drawing/2014/main" id="{82DBC505-E20C-4A53-9CBE-E7C8B861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860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Тестировщик</a:t>
            </a:r>
          </a:p>
        </p:txBody>
      </p:sp>
      <p:sp>
        <p:nvSpPr>
          <p:cNvPr id="17" name="feedback-t">
            <a:extLst xmlns:a="http://schemas.openxmlformats.org/drawingml/2006/main">
              <a:ext uri="{FF2B5EF4-FFF2-40B4-BE49-F238E27FC236}">
                <a16:creationId xmlns:a16="http://schemas.microsoft.com/office/drawing/2014/main" id="{F725B8C4-CD36-4573-AF54-B61A918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76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Проверки ловят многое — обратная связь приходит раньше</a:t>
            </a:r>
          </a:p>
        </p:txBody>
      </p:sp>
      <p:sp>
        <p:nvSpPr>
          <p:cNvPr id="18" name="lane-bottom">
            <a:extLst xmlns:a="http://schemas.openxmlformats.org/drawingml/2006/main">
              <a:ext uri="{FF2B5EF4-FFF2-40B4-BE49-F238E27FC236}">
                <a16:creationId xmlns:a16="http://schemas.microsoft.com/office/drawing/2014/main" id="{1BE6DB1F-1F36-44E0-81B0-02F4F28E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02124"/>
            </a:solidFill>
            <a:prstDash val="solid"/>
          </a:ln>
        </p:spPr>
      </p:sp>
      <p:sp>
        <p:nvSpPr>
          <p:cNvPr id="19" name="lane-bottom-label">
            <a:extLst xmlns:a="http://schemas.openxmlformats.org/drawingml/2006/main">
              <a:ext uri="{FF2B5EF4-FFF2-40B4-BE49-F238E27FC236}">
                <a16:creationId xmlns:a16="http://schemas.microsoft.com/office/drawing/2014/main" id="{5A5B0DA9-E230-4566-8470-065FFBCE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20" name="arrow-bottom-1">
            <a:extLst xmlns:a="http://schemas.openxmlformats.org/drawingml/2006/main">
              <a:ext uri="{FF2B5EF4-FFF2-40B4-BE49-F238E27FC236}">
                <a16:creationId xmlns:a16="http://schemas.microsoft.com/office/drawing/2014/main" id="{0B276AB9-064A-4293-AF99-71ED38C9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29175"/>
            <a:ext cx="1676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21" name="arrow-bottom-2">
            <a:extLst xmlns:a="http://schemas.openxmlformats.org/drawingml/2006/main">
              <a:ext uri="{FF2B5EF4-FFF2-40B4-BE49-F238E27FC236}">
                <a16:creationId xmlns:a16="http://schemas.microsoft.com/office/drawing/2014/main" id="{5715196E-A768-4244-AABE-10EB8605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29175"/>
            <a:ext cx="1600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22" name="analyst">
            <a:extLst xmlns:a="http://schemas.openxmlformats.org/drawingml/2006/main">
              <a:ext uri="{FF2B5EF4-FFF2-40B4-BE49-F238E27FC236}">
                <a16:creationId xmlns:a16="http://schemas.microsoft.com/office/drawing/2014/main" id="{901A4AC5-E91B-4C63-B570-7AC52AE4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1390650" y="4457700"/>
            <a:ext cx="1714500" cy="9525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missing-check">
            <a:extLst xmlns:a="http://schemas.openxmlformats.org/drawingml/2006/main">
              <a:ext uri="{FF2B5EF4-FFF2-40B4-BE49-F238E27FC236}">
                <a16:creationId xmlns:a16="http://schemas.microsoft.com/office/drawing/2014/main" id="{2CDABF54-182C-483F-9070-363983AF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">
            <a:off x="4953000" y="4352925"/>
            <a:ext cx="1905000" cy="1066800"/>
          </a:xfrm>
          <a:prstGeom xmlns:a="http://schemas.openxmlformats.org/drawingml/2006/main" prst="roundRect">
            <a:avLst>
              <a:gd name="adj" fmla="val 893"/>
            </a:avLst>
          </a:prstGeom>
          <a:solidFill xmlns:a="http://schemas.openxmlformats.org/drawingml/2006/main">
            <a:srgbClr val="FFB1B6"/>
          </a:solidFill>
          <a:ln xmlns:a="http://schemas.openxmlformats.org/drawingml/2006/main" w="4763">
            <a:solidFill>
              <a:srgbClr val="FFB1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developer">
            <a:extLst xmlns:a="http://schemas.openxmlformats.org/drawingml/2006/main">
              <a:ext uri="{FF2B5EF4-FFF2-40B4-BE49-F238E27FC236}">
                <a16:creationId xmlns:a16="http://schemas.microsoft.com/office/drawing/2014/main" id="{33B81E81-4465-415B-B1D6-1A42374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">
            <a:off x="8658225" y="4457700"/>
            <a:ext cx="1714500" cy="9525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analyst-t">
            <a:extLst xmlns:a="http://schemas.openxmlformats.org/drawingml/2006/main">
              <a:ext uri="{FF2B5EF4-FFF2-40B4-BE49-F238E27FC236}">
                <a16:creationId xmlns:a16="http://schemas.microsoft.com/office/drawing/2014/main" id="{2EA2E295-8B65-48CD-8F46-B4618D24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Аналитик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готовит ТЗ</a:t>
            </a:r>
          </a:p>
        </p:txBody>
      </p:sp>
      <p:sp>
        <p:nvSpPr>
          <p:cNvPr id="26" name="missing-q">
            <a:extLst xmlns:a="http://schemas.openxmlformats.org/drawingml/2006/main">
              <a:ext uri="{FF2B5EF4-FFF2-40B4-BE49-F238E27FC236}">
                <a16:creationId xmlns:a16="http://schemas.microsoft.com/office/drawing/2014/main" id="{EA9BA4AE-6408-460B-B451-F11C07C8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27" name="missing-t">
            <a:extLst xmlns:a="http://schemas.openxmlformats.org/drawingml/2006/main">
              <a:ext uri="{FF2B5EF4-FFF2-40B4-BE49-F238E27FC236}">
                <a16:creationId xmlns:a16="http://schemas.microsoft.com/office/drawing/2014/main" id="{FA0C8499-E020-43D2-BFEB-D0704DD4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4342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34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Ранний review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требований</a:t>
            </a:r>
          </a:p>
        </p:txBody>
      </p:sp>
      <p:sp>
        <p:nvSpPr>
          <p:cNvPr id="28" name="developer-t">
            <a:extLst xmlns:a="http://schemas.openxmlformats.org/drawingml/2006/main">
              <a:ext uri="{FF2B5EF4-FFF2-40B4-BE49-F238E27FC236}">
                <a16:creationId xmlns:a16="http://schemas.microsoft.com/office/drawing/2014/main" id="{429BBA30-741D-434D-8CC8-1A5D81F9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863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Разработка</a:t>
            </a:r>
          </a:p>
        </p:txBody>
      </p:sp>
      <p:sp>
        <p:nvSpPr>
          <p:cNvPr id="29" name="return-line">
            <a:extLst xmlns:a="http://schemas.openxmlformats.org/drawingml/2006/main">
              <a:ext uri="{FF2B5EF4-FFF2-40B4-BE49-F238E27FC236}">
                <a16:creationId xmlns:a16="http://schemas.microsoft.com/office/drawing/2014/main" id="{8821C0F9-AEDA-494D-8DEE-F9ADEBF0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467350"/>
            <a:ext cx="53721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30" name="return-caption">
            <a:extLst xmlns:a="http://schemas.openxmlformats.org/drawingml/2006/main">
              <a:ext uri="{FF2B5EF4-FFF2-40B4-BE49-F238E27FC236}">
                <a16:creationId xmlns:a16="http://schemas.microsoft.com/office/drawing/2014/main" id="{B0F8A3AC-0E32-442D-819F-6D6E5DFA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864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короткая петля: уточнение возвращается аналитику</a:t>
            </a:r>
          </a:p>
        </p:txBody>
      </p:sp>
      <p:sp>
        <p:nvSpPr>
          <p:cNvPr id="31" name="discipline-1">
            <a:extLst xmlns:a="http://schemas.openxmlformats.org/drawingml/2006/main">
              <a:ext uri="{FF2B5EF4-FFF2-40B4-BE49-F238E27FC236}">
                <a16:creationId xmlns:a16="http://schemas.microsoft.com/office/drawing/2014/main" id="{56261578-717D-4F6C-8511-AB4DAB29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Тот же принцип качества — но на шаг раньше.</a:t>
            </a:r>
          </a:p>
        </p:txBody>
      </p:sp>
    </p:spTree>
    <p:extLst>
      <p:ext uri="{BB962C8B-B14F-4D97-AF65-F5344CB8AC3E}">
        <p14:creationId xmlns:p14="http://schemas.microsoft.com/office/powerpoint/2010/main" val="1161018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cent-2">
            <a:extLst xmlns:a="http://schemas.openxmlformats.org/drawingml/2006/main">
              <a:ext uri="{FF2B5EF4-FFF2-40B4-BE49-F238E27FC236}">
                <a16:creationId xmlns:a16="http://schemas.microsoft.com/office/drawing/2014/main" id="{37F13AF5-63E4-42C9-918B-E514EE15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12F41676-3EFB-4200-A258-B8611A7D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ПЛАТФОРМЕННЫЙ ПОДХОД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A2E63669-2238-4A6F-BB2E-41BBD88A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Одно ядро — разные команды и домены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96EB1A64-8F8C-4050-AFD0-D494C7B3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B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707A"/>
                </a:solidFill>
                <a:latin typeface="Arial"/>
                <a:ea typeface="Arial"/>
                <a:cs typeface="Arial"/>
              </a:rPr>
              <a:t>MTS — первый домен применения; профиль и контекст настраиваются под конкретную команду.</a:t>
            </a:r>
          </a:p>
        </p:txBody>
      </p:sp>
      <p:sp>
        <p:nvSpPr>
          <p:cNvPr id="5" name="market-circle">
            <a:extLst xmlns:a="http://schemas.openxmlformats.org/drawingml/2006/main">
              <a:ext uri="{FF2B5EF4-FFF2-40B4-BE49-F238E27FC236}">
                <a16:creationId xmlns:a16="http://schemas.microsoft.com/office/drawing/2014/main" id="{D04D8355-A354-4292-8AF1-9B02B700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4476750" cy="4048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02124"/>
            </a:solidFill>
            <a:prstDash val="solid"/>
          </a:ln>
        </p:spPr>
      </p:sp>
      <p:sp>
        <p:nvSpPr>
          <p:cNvPr id="6" name="mts-circle">
            <a:extLst xmlns:a="http://schemas.openxmlformats.org/drawingml/2006/main">
              <a:ext uri="{FF2B5EF4-FFF2-40B4-BE49-F238E27FC236}">
                <a16:creationId xmlns:a16="http://schemas.microsoft.com/office/drawing/2014/main" id="{A6A45D35-5F40-4A14-AED7-476F48D2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52700"/>
            <a:ext cx="2333625" cy="2047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0611"/>
            </a:solidFill>
            <a:prstDash val="solid"/>
          </a:ln>
        </p:spPr>
      </p:sp>
      <p:sp>
        <p:nvSpPr>
          <p:cNvPr id="7" name="mts-inner">
            <a:extLst xmlns:a="http://schemas.openxmlformats.org/drawingml/2006/main">
              <a:ext uri="{FF2B5EF4-FFF2-40B4-BE49-F238E27FC236}">
                <a16:creationId xmlns:a16="http://schemas.microsoft.com/office/drawing/2014/main" id="{E2FECF5A-7EEF-4FCF-8A9C-82A76AD9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908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витрины и потоки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роль команды</a:t>
            </a:r>
          </a:p>
        </p:txBody>
      </p:sp>
      <p:sp>
        <p:nvSpPr>
          <p:cNvPr id="8" name="market-label">
            <a:extLst xmlns:a="http://schemas.openxmlformats.org/drawingml/2006/main">
              <a:ext uri="{FF2B5EF4-FFF2-40B4-BE49-F238E27FC236}">
                <a16:creationId xmlns:a16="http://schemas.microsoft.com/office/drawing/2014/main" id="{2FF05A45-603E-466C-BDEC-DC6292B2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11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Платформа для аналитиков</a:t>
            </a:r>
          </a:p>
        </p:txBody>
      </p:sp>
      <p:sp>
        <p:nvSpPr>
          <p:cNvPr id="9" name="market-sub">
            <a:extLst xmlns:a="http://schemas.openxmlformats.org/drawingml/2006/main">
              <a:ext uri="{FF2B5EF4-FFF2-40B4-BE49-F238E27FC236}">
                <a16:creationId xmlns:a16="http://schemas.microsoft.com/office/drawing/2014/main" id="{815C81FC-396C-4326-A1A4-243CB9F3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86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B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07A"/>
                </a:solidFill>
                <a:latin typeface="Arial"/>
                <a:ea typeface="Arial"/>
                <a:cs typeface="Arial"/>
              </a:rPr>
              <a:t>общее review-ядро</a:t>
            </a:r>
          </a:p>
        </p:txBody>
      </p:sp>
      <p:sp>
        <p:nvSpPr>
          <p:cNvPr id="10" name="segment-agent">
            <a:extLst xmlns:a="http://schemas.openxmlformats.org/drawingml/2006/main">
              <a:ext uri="{FF2B5EF4-FFF2-40B4-BE49-F238E27FC236}">
                <a16:creationId xmlns:a16="http://schemas.microsoft.com/office/drawing/2014/main" id="{E0989B6B-53C8-4F86-86EC-0A1D43B8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123950" y="5667375"/>
            <a:ext cx="1714500" cy="4953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4763">
            <a:solidFill>
              <a:srgbClr val="FFF0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segment-agent-t">
            <a:extLst xmlns:a="http://schemas.openxmlformats.org/drawingml/2006/main">
              <a:ext uri="{FF2B5EF4-FFF2-40B4-BE49-F238E27FC236}">
                <a16:creationId xmlns:a16="http://schemas.microsoft.com/office/drawing/2014/main" id="{3384F42F-0F02-42F2-8C68-7553D310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531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AI-агент</a:t>
            </a:r>
          </a:p>
        </p:txBody>
      </p:sp>
      <p:sp>
        <p:nvSpPr>
          <p:cNvPr id="12" name="segment-web">
            <a:extLst xmlns:a="http://schemas.openxmlformats.org/drawingml/2006/main">
              <a:ext uri="{FF2B5EF4-FFF2-40B4-BE49-F238E27FC236}">
                <a16:creationId xmlns:a16="http://schemas.microsoft.com/office/drawing/2014/main" id="{AD809486-9791-4ACA-976D-EC99BAA7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3143250" y="5638800"/>
            <a:ext cx="1524000" cy="4953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segment-web-t">
            <a:extLst xmlns:a="http://schemas.openxmlformats.org/drawingml/2006/main">
              <a:ext uri="{FF2B5EF4-FFF2-40B4-BE49-F238E27FC236}">
                <a16:creationId xmlns:a16="http://schemas.microsoft.com/office/drawing/2014/main" id="{2A928E98-09EC-4A24-871E-DCE5F371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24525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Web / API</a:t>
            </a:r>
          </a:p>
        </p:txBody>
      </p:sp>
      <p:sp>
        <p:nvSpPr>
          <p:cNvPr id="14" name="known-label">
            <a:extLst xmlns:a="http://schemas.openxmlformats.org/drawingml/2006/main">
              <a:ext uri="{FF2B5EF4-FFF2-40B4-BE49-F238E27FC236}">
                <a16:creationId xmlns:a16="http://schemas.microsoft.com/office/drawing/2014/main" id="{FA58CAC3-7DDF-402F-9744-26F45032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ОДНО ЯДРО — РАЗНЫЕ КОМАНДЫ</a:t>
            </a:r>
          </a:p>
        </p:txBody>
      </p:sp>
      <p:sp>
        <p:nvSpPr>
          <p:cNvPr id="15" name="fact-n-0">
            <a:extLst xmlns:a="http://schemas.openxmlformats.org/drawingml/2006/main">
              <a:ext uri="{FF2B5EF4-FFF2-40B4-BE49-F238E27FC236}">
                <a16:creationId xmlns:a16="http://schemas.microsoft.com/office/drawing/2014/main" id="{31134FE5-D837-4724-A978-9B6F150B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670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fact-t-0">
            <a:extLst xmlns:a="http://schemas.openxmlformats.org/drawingml/2006/main">
              <a:ext uri="{FF2B5EF4-FFF2-40B4-BE49-F238E27FC236}">
                <a16:creationId xmlns:a16="http://schemas.microsoft.com/office/drawing/2014/main" id="{DD4C1C60-9FB8-4862-9670-53DB536B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">
            <a:off x="5829300" y="2590800"/>
            <a:ext cx="2286000" cy="1066800"/>
          </a:xfrm>
          <a:prstGeom xmlns:a="http://schemas.openxmlformats.org/drawingml/2006/main" prst="roundRect">
            <a:avLst>
              <a:gd name="adj" fmla="val 89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Доменная роль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и профиль проверки</a:t>
            </a:r>
          </a:p>
        </p:txBody>
      </p:sp>
      <p:sp>
        <p:nvSpPr>
          <p:cNvPr id="17" name="fact-line-0">
            <a:extLst xmlns:a="http://schemas.openxmlformats.org/drawingml/2006/main">
              <a:ext uri="{FF2B5EF4-FFF2-40B4-BE49-F238E27FC236}">
                <a16:creationId xmlns:a16="http://schemas.microsoft.com/office/drawing/2014/main" id="{EB99746D-0FDF-46B4-B365-91CA4C0D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57550"/>
            <a:ext cx="5781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fact-n-1">
            <a:extLst xmlns:a="http://schemas.openxmlformats.org/drawingml/2006/main">
              <a:ext uri="{FF2B5EF4-FFF2-40B4-BE49-F238E27FC236}">
                <a16:creationId xmlns:a16="http://schemas.microsoft.com/office/drawing/2014/main" id="{5E3A7EBE-F1AD-4AB3-8343-4DEA3C36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fact-t-1">
            <a:extLst xmlns:a="http://schemas.openxmlformats.org/drawingml/2006/main">
              <a:ext uri="{FF2B5EF4-FFF2-40B4-BE49-F238E27FC236}">
                <a16:creationId xmlns:a16="http://schemas.microsoft.com/office/drawing/2014/main" id="{3628CF9C-8176-48EC-AEFD-A3915DF6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">
            <a:off x="8334375" y="2667000"/>
            <a:ext cx="2333625" cy="1028700"/>
          </a:xfrm>
          <a:prstGeom xmlns:a="http://schemas.openxmlformats.org/drawingml/2006/main" prst="roundRect">
            <a:avLst>
              <a:gd name="adj" fmla="val 926"/>
            </a:avLst>
          </a:prstGeom>
          <a:solidFill xmlns:a="http://schemas.openxmlformats.org/drawingml/2006/main">
            <a:srgbClr val="84E1A1"/>
          </a:solidFill>
          <a:ln xmlns:a="http://schemas.openxmlformats.org/drawingml/2006/main" w="4763">
            <a:solidFill>
              <a:srgbClr val="84E1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Контекст и правила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конкретной команды</a:t>
            </a:r>
          </a:p>
        </p:txBody>
      </p:sp>
      <p:sp>
        <p:nvSpPr>
          <p:cNvPr id="20" name="fact-line-1">
            <a:extLst xmlns:a="http://schemas.openxmlformats.org/drawingml/2006/main">
              <a:ext uri="{FF2B5EF4-FFF2-40B4-BE49-F238E27FC236}">
                <a16:creationId xmlns:a16="http://schemas.microsoft.com/office/drawing/2014/main" id="{1F850526-2994-462F-9137-B2BC6A23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91000"/>
            <a:ext cx="5781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fact-n-2">
            <a:extLst xmlns:a="http://schemas.openxmlformats.org/drawingml/2006/main">
              <a:ext uri="{FF2B5EF4-FFF2-40B4-BE49-F238E27FC236}">
                <a16:creationId xmlns:a16="http://schemas.microsoft.com/office/drawing/2014/main" id="{1BB1BB26-9B64-42CC-8394-F4F48272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576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fact-t-2">
            <a:extLst xmlns:a="http://schemas.openxmlformats.org/drawingml/2006/main">
              <a:ext uri="{FF2B5EF4-FFF2-40B4-BE49-F238E27FC236}">
                <a16:creationId xmlns:a16="http://schemas.microsoft.com/office/drawing/2014/main" id="{E7436553-4E9D-439E-864C-E04A16E7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">
            <a:off x="6477000" y="3971925"/>
            <a:ext cx="2571750" cy="11239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FB1B6"/>
          </a:solidFill>
          <a:ln xmlns:a="http://schemas.openxmlformats.org/drawingml/2006/main" w="4763">
            <a:solidFill>
              <a:srgbClr val="FFB1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Канал работы: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агент, движок или сервис</a:t>
            </a:r>
          </a:p>
        </p:txBody>
      </p:sp>
      <p:sp>
        <p:nvSpPr>
          <p:cNvPr id="23" name="unknowns">
            <a:extLst xmlns:a="http://schemas.openxmlformats.org/drawingml/2006/main">
              <a:ext uri="{FF2B5EF4-FFF2-40B4-BE49-F238E27FC236}">
                <a16:creationId xmlns:a16="http://schemas.microsoft.com/office/drawing/2014/main" id="{14616E5A-63A2-40EB-8DF8-1DB3CCC7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2925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30611"/>
            </a:solidFill>
            <a:prstDash val="solid"/>
          </a:ln>
        </p:spPr>
      </p:sp>
      <p:sp>
        <p:nvSpPr>
          <p:cNvPr id="24" name="unknowns-t">
            <a:extLst xmlns:a="http://schemas.openxmlformats.org/drawingml/2006/main">
              <a:ext uri="{FF2B5EF4-FFF2-40B4-BE49-F238E27FC236}">
                <a16:creationId xmlns:a16="http://schemas.microsoft.com/office/drawing/2014/main" id="{A6802726-6FB9-424A-AD11-DB2EC204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24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Неизменно: документ · фрагмент · замечание · решение человека</a:t>
            </a:r>
          </a:p>
        </p:txBody>
      </p:sp>
    </p:spTree>
    <p:extLst>
      <p:ext uri="{BB962C8B-B14F-4D97-AF65-F5344CB8AC3E}">
        <p14:creationId xmlns:p14="http://schemas.microsoft.com/office/powerpoint/2010/main" val="15888224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3">
            <a:extLst xmlns:a="http://schemas.openxmlformats.org/drawingml/2006/main">
              <a:ext uri="{FF2B5EF4-FFF2-40B4-BE49-F238E27FC236}">
                <a16:creationId xmlns:a16="http://schemas.microsoft.com/office/drawing/2014/main" id="{1475B20F-0295-4FBD-8045-3FD21AE0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3EFF958A-C07D-463E-BCDA-F3588478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РЕЖИМ 1 · БЫСТРЫЙ REVIEW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E3770D80-3A8E-442E-9345-851498B1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Простое решение: проверить ТЗ до разработки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7C282433-152F-42B2-B315-A117B285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B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707A"/>
                </a:solidFill>
                <a:latin typeface="Arial"/>
                <a:ea typeface="Arial"/>
                <a:cs typeface="Arial"/>
              </a:rPr>
              <a:t>Один запуск возвращает аналитику адресный список замечаний и вопросов.</a:t>
            </a:r>
          </a:p>
        </p:txBody>
      </p:sp>
      <p:sp>
        <p:nvSpPr>
          <p:cNvPr id="5" name="s3-arrow-1">
            <a:extLst xmlns:a="http://schemas.openxmlformats.org/drawingml/2006/main">
              <a:ext uri="{FF2B5EF4-FFF2-40B4-BE49-F238E27FC236}">
                <a16:creationId xmlns:a16="http://schemas.microsoft.com/office/drawing/2014/main" id="{4B564944-A121-4A83-9CAC-90530033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71850"/>
            <a:ext cx="723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6" name="s3-arrow-2">
            <a:extLst xmlns:a="http://schemas.openxmlformats.org/drawingml/2006/main">
              <a:ext uri="{FF2B5EF4-FFF2-40B4-BE49-F238E27FC236}">
                <a16:creationId xmlns:a16="http://schemas.microsoft.com/office/drawing/2014/main" id="{133BADCF-7B4F-46EC-B2CD-BEA4D4F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71850"/>
            <a:ext cx="723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7" name="s3-arrow-3">
            <a:extLst xmlns:a="http://schemas.openxmlformats.org/drawingml/2006/main">
              <a:ext uri="{FF2B5EF4-FFF2-40B4-BE49-F238E27FC236}">
                <a16:creationId xmlns:a16="http://schemas.microsoft.com/office/drawing/2014/main" id="{FEABA2FD-45CC-4336-964A-F4DF6D4F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647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8" name="s3-input">
            <a:extLst xmlns:a="http://schemas.openxmlformats.org/drawingml/2006/main">
              <a:ext uri="{FF2B5EF4-FFF2-40B4-BE49-F238E27FC236}">
                <a16:creationId xmlns:a16="http://schemas.microsoft.com/office/drawing/2014/main" id="{2BDB25D7-86E2-46BA-9A15-3B8EE96A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143000" y="2952750"/>
            <a:ext cx="1809750" cy="1238250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s3-input-k">
            <a:extLst xmlns:a="http://schemas.openxmlformats.org/drawingml/2006/main">
              <a:ext uri="{FF2B5EF4-FFF2-40B4-BE49-F238E27FC236}">
                <a16:creationId xmlns:a16="http://schemas.microsoft.com/office/drawing/2014/main" id="{0AD655D5-E4CA-4306-A97E-548325CA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10" name="s3-input-t">
            <a:extLst xmlns:a="http://schemas.openxmlformats.org/drawingml/2006/main">
              <a:ext uri="{FF2B5EF4-FFF2-40B4-BE49-F238E27FC236}">
                <a16:creationId xmlns:a16="http://schemas.microsoft.com/office/drawing/2014/main" id="{154C2900-96A3-49E5-B261-FAFC1AAF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Готовое ТЗ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+ профиль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+ контекст</a:t>
            </a:r>
          </a:p>
        </p:txBody>
      </p:sp>
      <p:sp>
        <p:nvSpPr>
          <p:cNvPr id="11" name="s3-agent">
            <a:extLst xmlns:a="http://schemas.openxmlformats.org/drawingml/2006/main">
              <a:ext uri="{FF2B5EF4-FFF2-40B4-BE49-F238E27FC236}">
                <a16:creationId xmlns:a16="http://schemas.microsoft.com/office/drawing/2014/main" id="{A5FC90DC-8124-4153-BABB-BB6C8A9D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">
            <a:off x="3829050" y="2724150"/>
            <a:ext cx="2095500" cy="1466850"/>
          </a:xfrm>
          <a:prstGeom xmlns:a="http://schemas.openxmlformats.org/drawingml/2006/main" prst="roundRect">
            <a:avLst>
              <a:gd name="adj" fmla="val 649"/>
            </a:avLst>
          </a:prstGeom>
          <a:solidFill xmlns:a="http://schemas.openxmlformats.org/drawingml/2006/main">
            <a:srgbClr val="FFB1B6"/>
          </a:solidFill>
          <a:ln xmlns:a="http://schemas.openxmlformats.org/drawingml/2006/main" w="4763">
            <a:solidFill>
              <a:srgbClr val="FFB1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3-agent-k">
            <a:extLst xmlns:a="http://schemas.openxmlformats.org/drawingml/2006/main">
              <a:ext uri="{FF2B5EF4-FFF2-40B4-BE49-F238E27FC236}">
                <a16:creationId xmlns:a16="http://schemas.microsoft.com/office/drawing/2014/main" id="{AE3A2B77-8768-4548-941C-09723A1B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AI REVIEW</a:t>
            </a:r>
          </a:p>
        </p:txBody>
      </p:sp>
      <p:sp>
        <p:nvSpPr>
          <p:cNvPr id="13" name="s3-agent-t">
            <a:extLst xmlns:a="http://schemas.openxmlformats.org/drawingml/2006/main">
              <a:ext uri="{FF2B5EF4-FFF2-40B4-BE49-F238E27FC236}">
                <a16:creationId xmlns:a16="http://schemas.microsoft.com/office/drawing/2014/main" id="{6071B9BA-A727-4467-B840-28B3C456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562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36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Проверяет смысл,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связи и полноту</a:t>
            </a:r>
          </a:p>
        </p:txBody>
      </p:sp>
      <p:sp>
        <p:nvSpPr>
          <p:cNvPr id="14" name="s3-report">
            <a:extLst xmlns:a="http://schemas.openxmlformats.org/drawingml/2006/main">
              <a:ext uri="{FF2B5EF4-FFF2-40B4-BE49-F238E27FC236}">
                <a16:creationId xmlns:a16="http://schemas.microsoft.com/office/drawing/2014/main" id="{15D38075-F3CC-42DB-AE1C-3B821AA9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">
            <a:off x="6800850" y="2705100"/>
            <a:ext cx="2190750" cy="1524000"/>
          </a:xfrm>
          <a:prstGeom xmlns:a="http://schemas.openxmlformats.org/drawingml/2006/main" prst="roundRect">
            <a:avLst>
              <a:gd name="adj" fmla="val 625"/>
            </a:avLst>
          </a:prstGeom>
          <a:solidFill xmlns:a="http://schemas.openxmlformats.org/drawingml/2006/main">
            <a:srgbClr val="84E1A1"/>
          </a:solidFill>
          <a:ln xmlns:a="http://schemas.openxmlformats.org/drawingml/2006/main" w="4763">
            <a:solidFill>
              <a:srgbClr val="84E1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3-report-k">
            <a:extLst xmlns:a="http://schemas.openxmlformats.org/drawingml/2006/main">
              <a:ext uri="{FF2B5EF4-FFF2-40B4-BE49-F238E27FC236}">
                <a16:creationId xmlns:a16="http://schemas.microsoft.com/office/drawing/2014/main" id="{2F9C3566-D26C-4A76-983D-9B995C8B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АДРЕСНЫЙ ОТЧЁТ</a:t>
            </a:r>
          </a:p>
        </p:txBody>
      </p:sp>
      <p:sp>
        <p:nvSpPr>
          <p:cNvPr id="16" name="s3-dot-0">
            <a:extLst xmlns:a="http://schemas.openxmlformats.org/drawingml/2006/main">
              <a:ext uri="{FF2B5EF4-FFF2-40B4-BE49-F238E27FC236}">
                <a16:creationId xmlns:a16="http://schemas.microsoft.com/office/drawing/2014/main" id="{A9DC529A-B242-4FED-8754-7337B9A8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2892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s3-field-0">
            <a:extLst xmlns:a="http://schemas.openxmlformats.org/drawingml/2006/main">
              <a:ext uri="{FF2B5EF4-FFF2-40B4-BE49-F238E27FC236}">
                <a16:creationId xmlns:a16="http://schemas.microsoft.com/office/drawing/2014/main" id="{1366CB58-A47E-4116-ABDA-AD538B81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1657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8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Фрагмент → проблема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→ причина → вопрос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→ приоритет</a:t>
            </a:r>
          </a:p>
        </p:txBody>
      </p:sp>
      <p:sp>
        <p:nvSpPr>
          <p:cNvPr id="18" name="s3-dot-1">
            <a:extLst xmlns:a="http://schemas.openxmlformats.org/drawingml/2006/main">
              <a:ext uri="{FF2B5EF4-FFF2-40B4-BE49-F238E27FC236}">
                <a16:creationId xmlns:a16="http://schemas.microsoft.com/office/drawing/2014/main" id="{7590BFBD-22E6-456B-A272-24113180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5277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s3-field-1">
            <a:extLst xmlns:a="http://schemas.openxmlformats.org/drawingml/2006/main">
              <a:ext uri="{FF2B5EF4-FFF2-40B4-BE49-F238E27FC236}">
                <a16:creationId xmlns:a16="http://schemas.microsoft.com/office/drawing/2014/main" id="{BB2F6DD8-EAE5-4EDB-AEEB-BC0EE473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242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0" name="s3-dot-2">
            <a:extLst xmlns:a="http://schemas.openxmlformats.org/drawingml/2006/main">
              <a:ext uri="{FF2B5EF4-FFF2-40B4-BE49-F238E27FC236}">
                <a16:creationId xmlns:a16="http://schemas.microsoft.com/office/drawing/2014/main" id="{9D10F8D9-B090-4415-ABC1-122D6014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s3-field-2">
            <a:extLst xmlns:a="http://schemas.openxmlformats.org/drawingml/2006/main">
              <a:ext uri="{FF2B5EF4-FFF2-40B4-BE49-F238E27FC236}">
                <a16:creationId xmlns:a16="http://schemas.microsoft.com/office/drawing/2014/main" id="{E0AA1814-9442-481A-AD93-E2B0D12E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2" name="s3-dot-3">
            <a:extLst xmlns:a="http://schemas.openxmlformats.org/drawingml/2006/main">
              <a:ext uri="{FF2B5EF4-FFF2-40B4-BE49-F238E27FC236}">
                <a16:creationId xmlns:a16="http://schemas.microsoft.com/office/drawing/2014/main" id="{1E2DE897-9196-428B-BC2F-BF462C14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s3-field-3">
            <a:extLst xmlns:a="http://schemas.openxmlformats.org/drawingml/2006/main">
              <a:ext uri="{FF2B5EF4-FFF2-40B4-BE49-F238E27FC236}">
                <a16:creationId xmlns:a16="http://schemas.microsoft.com/office/drawing/2014/main" id="{0D53E8ED-AF15-4BA2-8CBF-4BCADC9A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719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3-dot-4">
            <a:extLst xmlns:a="http://schemas.openxmlformats.org/drawingml/2006/main">
              <a:ext uri="{FF2B5EF4-FFF2-40B4-BE49-F238E27FC236}">
                <a16:creationId xmlns:a16="http://schemas.microsoft.com/office/drawing/2014/main" id="{88E6E546-5836-427C-B4FF-89D7A0D1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2432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s3-field-4">
            <a:extLst xmlns:a="http://schemas.openxmlformats.org/drawingml/2006/main">
              <a:ext uri="{FF2B5EF4-FFF2-40B4-BE49-F238E27FC236}">
                <a16:creationId xmlns:a16="http://schemas.microsoft.com/office/drawing/2014/main" id="{DBA2B0D8-E30C-4395-AF3B-CEA3A8DC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957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" name="s3-human">
            <a:extLst xmlns:a="http://schemas.openxmlformats.org/drawingml/2006/main">
              <a:ext uri="{FF2B5EF4-FFF2-40B4-BE49-F238E27FC236}">
                <a16:creationId xmlns:a16="http://schemas.microsoft.com/office/drawing/2014/main" id="{33EEADEA-1230-49B5-9059-E3562CDC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">
            <a:off x="9810750" y="2952750"/>
            <a:ext cx="1428750" cy="1238250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s3-human-k">
            <a:extLst xmlns:a="http://schemas.openxmlformats.org/drawingml/2006/main">
              <a:ext uri="{FF2B5EF4-FFF2-40B4-BE49-F238E27FC236}">
                <a16:creationId xmlns:a16="http://schemas.microsoft.com/office/drawing/2014/main" id="{36A5C9B3-AFC4-44CA-B7DD-B457862E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48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8" name="s3-human-t">
            <a:extLst xmlns:a="http://schemas.openxmlformats.org/drawingml/2006/main">
              <a:ext uri="{FF2B5EF4-FFF2-40B4-BE49-F238E27FC236}">
                <a16:creationId xmlns:a16="http://schemas.microsoft.com/office/drawing/2014/main" id="{99409816-275A-4D9E-A989-2665A26C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305175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Аналитик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выбирает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sp>
        <p:nvSpPr>
          <p:cNvPr id="29" name="s3-scope">
            <a:extLst xmlns:a="http://schemas.openxmlformats.org/drawingml/2006/main">
              <a:ext uri="{FF2B5EF4-FFF2-40B4-BE49-F238E27FC236}">
                <a16:creationId xmlns:a16="http://schemas.microsoft.com/office/drawing/2014/main" id="{1DDD83EE-1DDF-4DB2-A1EF-CB19AE23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07632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02124"/>
            </a:solidFill>
            <a:prstDash val="solid"/>
          </a:ln>
        </p:spPr>
      </p:sp>
      <p:sp>
        <p:nvSpPr>
          <p:cNvPr id="30" name="s3-scope-title">
            <a:extLst xmlns:a="http://schemas.openxmlformats.org/drawingml/2006/main">
              <a:ext uri="{FF2B5EF4-FFF2-40B4-BE49-F238E27FC236}">
                <a16:creationId xmlns:a16="http://schemas.microsoft.com/office/drawing/2014/main" id="{13A7552C-FD5F-4F2E-B34A-A0BAFCBD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00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ПОЛНЫЙ ПУТЬ ПРОДУКТА</a:t>
            </a:r>
          </a:p>
        </p:txBody>
      </p:sp>
      <p:sp>
        <p:nvSpPr>
          <p:cNvPr id="31" name="s3-scope-body">
            <a:extLst xmlns:a="http://schemas.openxmlformats.org/drawingml/2006/main">
              <a:ext uri="{FF2B5EF4-FFF2-40B4-BE49-F238E27FC236}">
                <a16:creationId xmlns:a16="http://schemas.microsoft.com/office/drawing/2014/main" id="{F8ABA64D-B697-4060-8EC1-9502C4B1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Навык в AI-агенте  →  самостоятельный движок  →  сервис для команд</a:t>
            </a:r>
          </a:p>
        </p:txBody>
      </p:sp>
      <p:sp>
        <p:nvSpPr>
          <p:cNvPr id="32" name="s3-boundary">
            <a:extLst xmlns:a="http://schemas.openxmlformats.org/drawingml/2006/main">
              <a:ext uri="{FF2B5EF4-FFF2-40B4-BE49-F238E27FC236}">
                <a16:creationId xmlns:a16="http://schemas.microsoft.com/office/drawing/2014/main" id="{3D51959B-8C95-43EC-81F4-38D198B9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B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07A"/>
                </a:solidFill>
                <a:latin typeface="Arial"/>
                <a:ea typeface="Arial"/>
                <a:cs typeface="Arial"/>
              </a:rPr>
              <a:t>Простой вход для пользователя; единая логика ревью внутри.</a:t>
            </a:r>
          </a:p>
        </p:txBody>
      </p:sp>
    </p:spTree>
    <p:extLst>
      <p:ext uri="{BB962C8B-B14F-4D97-AF65-F5344CB8AC3E}">
        <p14:creationId xmlns:p14="http://schemas.microsoft.com/office/powerpoint/2010/main" val="1722037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-4">
            <a:extLst xmlns:a="http://schemas.openxmlformats.org/drawingml/2006/main">
              <a:ext uri="{FF2B5EF4-FFF2-40B4-BE49-F238E27FC236}">
                <a16:creationId xmlns:a16="http://schemas.microsoft.com/office/drawing/2014/main" id="{3414B39F-F785-441C-95A8-996D4253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4">
            <a:extLst xmlns:a="http://schemas.openxmlformats.org/drawingml/2006/main">
              <a:ext uri="{FF2B5EF4-FFF2-40B4-BE49-F238E27FC236}">
                <a16:creationId xmlns:a16="http://schemas.microsoft.com/office/drawing/2014/main" id="{C1BC08A4-355F-4372-9126-AA07AD3F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РЕЖИМ 2 · ДИАЛОГ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6C7E7BC7-FAF2-4F6D-8D91-1B5195F8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Агент проходит неоднозначности вместе с аналитиком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C5947618-16EA-4E94-AD1E-F4350B86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B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707A"/>
                </a:solidFill>
                <a:latin typeface="Arial"/>
                <a:ea typeface="Arial"/>
                <a:cs typeface="Arial"/>
              </a:rPr>
              <a:t>Не выдаёт двадцать вопросов сразу: строит ветку, предлагает варианты и фиксирует решение.</a:t>
            </a:r>
          </a:p>
        </p:txBody>
      </p:sp>
      <p:sp>
        <p:nvSpPr>
          <p:cNvPr id="5" name="s4-a1">
            <a:extLst xmlns:a="http://schemas.openxmlformats.org/drawingml/2006/main">
              <a:ext uri="{FF2B5EF4-FFF2-40B4-BE49-F238E27FC236}">
                <a16:creationId xmlns:a16="http://schemas.microsoft.com/office/drawing/2014/main" id="{415AA27C-D778-4B59-BFE3-D1FE3265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57600"/>
            <a:ext cx="514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6" name="s4-a2">
            <a:extLst xmlns:a="http://schemas.openxmlformats.org/drawingml/2006/main">
              <a:ext uri="{FF2B5EF4-FFF2-40B4-BE49-F238E27FC236}">
                <a16:creationId xmlns:a16="http://schemas.microsoft.com/office/drawing/2014/main" id="{D0A7BE09-BB33-4CFA-8275-517494B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0512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7" name="s4-a3">
            <a:extLst xmlns:a="http://schemas.openxmlformats.org/drawingml/2006/main">
              <a:ext uri="{FF2B5EF4-FFF2-40B4-BE49-F238E27FC236}">
                <a16:creationId xmlns:a16="http://schemas.microsoft.com/office/drawing/2014/main" id="{3B433DB5-0411-447F-9487-FC1B22A0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576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8" name="s4-loop">
            <a:extLst xmlns:a="http://schemas.openxmlformats.org/drawingml/2006/main">
              <a:ext uri="{FF2B5EF4-FFF2-40B4-BE49-F238E27FC236}">
                <a16:creationId xmlns:a16="http://schemas.microsoft.com/office/drawing/2014/main" id="{AB5219B9-3E06-4D0A-B3FC-AA8F996D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57775"/>
            <a:ext cx="466725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9" name="s4-finding">
            <a:extLst xmlns:a="http://schemas.openxmlformats.org/drawingml/2006/main">
              <a:ext uri="{FF2B5EF4-FFF2-40B4-BE49-F238E27FC236}">
                <a16:creationId xmlns:a16="http://schemas.microsoft.com/office/drawing/2014/main" id="{0BCA4FB3-88CF-4EF4-A2AA-7F5F5316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85800" y="3143250"/>
            <a:ext cx="2000250" cy="1381125"/>
          </a:xfrm>
          <a:prstGeom xmlns:a="http://schemas.openxmlformats.org/drawingml/2006/main" prst="roundRect">
            <a:avLst>
              <a:gd name="adj" fmla="val 690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s4-finding-k">
            <a:extLst xmlns:a="http://schemas.openxmlformats.org/drawingml/2006/main">
              <a:ext uri="{FF2B5EF4-FFF2-40B4-BE49-F238E27FC236}">
                <a16:creationId xmlns:a16="http://schemas.microsoft.com/office/drawing/2014/main" id="{46BF128B-BE41-489D-959F-F7F7EC93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АНАЛИТИК</a:t>
            </a:r>
          </a:p>
        </p:txBody>
      </p:sp>
      <p:sp>
        <p:nvSpPr>
          <p:cNvPr id="11" name="s4-finding-t">
            <a:extLst xmlns:a="http://schemas.openxmlformats.org/drawingml/2006/main">
              <a:ext uri="{FF2B5EF4-FFF2-40B4-BE49-F238E27FC236}">
                <a16:creationId xmlns:a16="http://schemas.microsoft.com/office/drawing/2014/main" id="{2FFE457A-BE2E-44E3-B3B2-13E36F50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Готовит ТЗ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и отвечает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на вопросы</a:t>
            </a:r>
          </a:p>
        </p:txBody>
      </p:sp>
      <p:sp>
        <p:nvSpPr>
          <p:cNvPr id="12" name="s4-question">
            <a:extLst xmlns:a="http://schemas.openxmlformats.org/drawingml/2006/main">
              <a:ext uri="{FF2B5EF4-FFF2-40B4-BE49-F238E27FC236}">
                <a16:creationId xmlns:a16="http://schemas.microsoft.com/office/drawing/2014/main" id="{2E725523-AB92-4788-9CE5-0625E6F3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">
            <a:off x="4095750" y="2495550"/>
            <a:ext cx="1809750" cy="1000125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84E1A1"/>
          </a:solidFill>
          <a:ln xmlns:a="http://schemas.openxmlformats.org/drawingml/2006/main" w="4763">
            <a:solidFill>
              <a:srgbClr val="84E1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s4-question-k">
            <a:extLst xmlns:a="http://schemas.openxmlformats.org/drawingml/2006/main">
              <a:ext uri="{FF2B5EF4-FFF2-40B4-BE49-F238E27FC236}">
                <a16:creationId xmlns:a16="http://schemas.microsoft.com/office/drawing/2014/main" id="{E3B13070-14DF-410E-B4F5-FF18DF6C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003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БЫСТРЫЙ REVIEW</a:t>
            </a:r>
          </a:p>
        </p:txBody>
      </p:sp>
      <p:sp>
        <p:nvSpPr>
          <p:cNvPr id="14" name="s4-question-t">
            <a:extLst xmlns:a="http://schemas.openxmlformats.org/drawingml/2006/main">
              <a:ext uri="{FF2B5EF4-FFF2-40B4-BE49-F238E27FC236}">
                <a16:creationId xmlns:a16="http://schemas.microsoft.com/office/drawing/2014/main" id="{41C33ED0-8633-4D6C-9681-0ADAD442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765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34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Список адресных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замечаний</a:t>
            </a:r>
          </a:p>
        </p:txBody>
      </p:sp>
      <p:sp>
        <p:nvSpPr>
          <p:cNvPr id="15" name="s4-options">
            <a:extLst xmlns:a="http://schemas.openxmlformats.org/drawingml/2006/main">
              <a:ext uri="{FF2B5EF4-FFF2-40B4-BE49-F238E27FC236}">
                <a16:creationId xmlns:a16="http://schemas.microsoft.com/office/drawing/2014/main" id="{6692C7DE-EF2B-4AFB-A250-49B8DAE6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">
            <a:off x="6572250" y="2495550"/>
            <a:ext cx="2000250" cy="1000125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B1B6"/>
          </a:solidFill>
          <a:ln xmlns:a="http://schemas.openxmlformats.org/drawingml/2006/main" w="4763">
            <a:solidFill>
              <a:srgbClr val="FFB1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s4-options-k">
            <a:extLst xmlns:a="http://schemas.openxmlformats.org/drawingml/2006/main">
              <a:ext uri="{FF2B5EF4-FFF2-40B4-BE49-F238E27FC236}">
                <a16:creationId xmlns:a16="http://schemas.microsoft.com/office/drawing/2014/main" id="{6A886D88-34AC-44AC-BE43-D058444E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003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ВЫБОР АНАЛИТИКА</a:t>
            </a:r>
          </a:p>
        </p:txBody>
      </p:sp>
      <p:sp>
        <p:nvSpPr>
          <p:cNvPr id="17" name="s4-choice-bar-0">
            <a:extLst xmlns:a="http://schemas.openxmlformats.org/drawingml/2006/main">
              <a:ext uri="{FF2B5EF4-FFF2-40B4-BE49-F238E27FC236}">
                <a16:creationId xmlns:a16="http://schemas.microsoft.com/office/drawing/2014/main" id="{CA646036-4169-43C8-A5EE-41EF73D5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s4-choice-0">
            <a:extLst xmlns:a="http://schemas.openxmlformats.org/drawingml/2006/main">
              <a:ext uri="{FF2B5EF4-FFF2-40B4-BE49-F238E27FC236}">
                <a16:creationId xmlns:a16="http://schemas.microsoft.com/office/drawing/2014/main" id="{2ACA84DF-DE55-49C1-BFC3-ED0A12CE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">
            <a:off x="3905250" y="4076700"/>
            <a:ext cx="1524000" cy="85725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Находит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проблему</a:t>
            </a:r>
          </a:p>
        </p:txBody>
      </p:sp>
      <p:sp>
        <p:nvSpPr>
          <p:cNvPr id="19" name="s4-choice-bar-1">
            <a:extLst xmlns:a="http://schemas.openxmlformats.org/drawingml/2006/main">
              <a:ext uri="{FF2B5EF4-FFF2-40B4-BE49-F238E27FC236}">
                <a16:creationId xmlns:a16="http://schemas.microsoft.com/office/drawing/2014/main" id="{24C8117C-EC64-4F7B-8B71-C5B43B5A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s4-choice-1">
            <a:extLst xmlns:a="http://schemas.openxmlformats.org/drawingml/2006/main">
              <a:ext uri="{FF2B5EF4-FFF2-40B4-BE49-F238E27FC236}">
                <a16:creationId xmlns:a16="http://schemas.microsoft.com/office/drawing/2014/main" id="{09400A9D-BFA2-46BF-BC92-19CE3801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5676900" y="3981450"/>
            <a:ext cx="1524000" cy="9525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Задаёт вопрос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и варианты</a:t>
            </a:r>
          </a:p>
        </p:txBody>
      </p:sp>
      <p:sp>
        <p:nvSpPr>
          <p:cNvPr id="21" name="s4-choice-bar-2">
            <a:extLst xmlns:a="http://schemas.openxmlformats.org/drawingml/2006/main">
              <a:ext uri="{FF2B5EF4-FFF2-40B4-BE49-F238E27FC236}">
                <a16:creationId xmlns:a16="http://schemas.microsoft.com/office/drawing/2014/main" id="{99B86077-FA15-49C2-B5ED-9918A215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9570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s4-choice-2">
            <a:extLst xmlns:a="http://schemas.openxmlformats.org/drawingml/2006/main">
              <a:ext uri="{FF2B5EF4-FFF2-40B4-BE49-F238E27FC236}">
                <a16:creationId xmlns:a16="http://schemas.microsoft.com/office/drawing/2014/main" id="{C1074A60-B167-444A-885F-BF934D1D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">
            <a:off x="7448550" y="4076700"/>
            <a:ext cx="1524000" cy="85725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Фиксирует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3" name="s4-result">
            <a:extLst xmlns:a="http://schemas.openxmlformats.org/drawingml/2006/main">
              <a:ext uri="{FF2B5EF4-FFF2-40B4-BE49-F238E27FC236}">
                <a16:creationId xmlns:a16="http://schemas.microsoft.com/office/drawing/2014/main" id="{840C07A2-D872-472C-A760-09422814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9906000" y="3143250"/>
            <a:ext cx="1619250" cy="1381125"/>
          </a:xfrm>
          <a:prstGeom xmlns:a="http://schemas.openxmlformats.org/drawingml/2006/main" prst="roundRect">
            <a:avLst>
              <a:gd name="adj" fmla="val 690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s4-result-k">
            <a:extLst xmlns:a="http://schemas.openxmlformats.org/drawingml/2006/main">
              <a:ext uri="{FF2B5EF4-FFF2-40B4-BE49-F238E27FC236}">
                <a16:creationId xmlns:a16="http://schemas.microsoft.com/office/drawing/2014/main" id="{88FAEF7D-4A18-4B23-A434-223D9E28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861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РАЗРАБОТКА</a:t>
            </a:r>
          </a:p>
        </p:txBody>
      </p:sp>
      <p:sp>
        <p:nvSpPr>
          <p:cNvPr id="25" name="s4-result-t">
            <a:extLst xmlns:a="http://schemas.openxmlformats.org/drawingml/2006/main">
              <a:ext uri="{FF2B5EF4-FFF2-40B4-BE49-F238E27FC236}">
                <a16:creationId xmlns:a16="http://schemas.microsoft.com/office/drawing/2014/main" id="{E47A0990-7EE3-4B2E-B215-AC887FBD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004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3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Получает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прояснённое ТЗ</a:t>
            </a:r>
          </a:p>
        </p:txBody>
      </p:sp>
      <p:sp>
        <p:nvSpPr>
          <p:cNvPr id="26" name="s4-loop-caption">
            <a:extLst xmlns:a="http://schemas.openxmlformats.org/drawingml/2006/main">
              <a:ext uri="{FF2B5EF4-FFF2-40B4-BE49-F238E27FC236}">
                <a16:creationId xmlns:a16="http://schemas.microsoft.com/office/drawing/2014/main" id="{5BFDB818-26F5-408A-ABB6-3C5E3D8E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7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Исправить самому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или пройти диалог</a:t>
            </a:r>
          </a:p>
        </p:txBody>
      </p:sp>
      <p:sp>
        <p:nvSpPr>
          <p:cNvPr id="27" name="s4-warning">
            <a:extLst xmlns:a="http://schemas.openxmlformats.org/drawingml/2006/main">
              <a:ext uri="{FF2B5EF4-FFF2-40B4-BE49-F238E27FC236}">
                <a16:creationId xmlns:a16="http://schemas.microsoft.com/office/drawing/2014/main" id="{A60FC85B-9819-4BA2-9BBC-80997AF6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6191250" cy="3524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1908">
            <a:solidFill>
              <a:srgbClr val="202124"/>
            </a:solidFill>
            <a:prstDash val="solid"/>
          </a:ln>
        </p:spPr>
      </p:sp>
      <p:sp>
        <p:nvSpPr>
          <p:cNvPr id="28" name="s4-warning-t">
            <a:extLst xmlns:a="http://schemas.openxmlformats.org/drawingml/2006/main">
              <a:ext uri="{FF2B5EF4-FFF2-40B4-BE49-F238E27FC236}">
                <a16:creationId xmlns:a16="http://schemas.microsoft.com/office/drawing/2014/main" id="{1042B4C6-0A03-4000-9768-63E0E0AE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74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Ветка продолжается, пока по неоднозначности не принято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1379333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accent-5">
            <a:extLst xmlns:a="http://schemas.openxmlformats.org/drawingml/2006/main">
              <a:ext uri="{FF2B5EF4-FFF2-40B4-BE49-F238E27FC236}">
                <a16:creationId xmlns:a16="http://schemas.microsoft.com/office/drawing/2014/main" id="{779BB56D-92A7-4197-90A4-92DCB3CF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5">
            <a:extLst xmlns:a="http://schemas.openxmlformats.org/drawingml/2006/main">
              <a:ext uri="{FF2B5EF4-FFF2-40B4-BE49-F238E27FC236}">
                <a16:creationId xmlns:a16="http://schemas.microsoft.com/office/drawing/2014/main" id="{7CBD6DDE-BFE4-459A-91A3-1D385E2B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ПОЗИЦИОНИРОВАНИЕ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518A05B1-F3A9-404C-9E07-00A32795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Собираем разрозненные проверки в единый процесс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5DD1D352-150E-4C3E-AA0C-FC36F641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B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707A"/>
                </a:solidFill>
                <a:latin typeface="Arial"/>
                <a:ea typeface="Arial"/>
                <a:cs typeface="Arial"/>
              </a:rPr>
              <a:t>Текст, контекст команды, приоритеты и человеческое решение работают в одном review-слое.</a:t>
            </a:r>
          </a:p>
        </p:txBody>
      </p:sp>
      <p:sp>
        <p:nvSpPr>
          <p:cNvPr id="5" name="s5-left">
            <a:extLst xmlns:a="http://schemas.openxmlformats.org/drawingml/2006/main">
              <a:ext uri="{FF2B5EF4-FFF2-40B4-BE49-F238E27FC236}">
                <a16:creationId xmlns:a16="http://schemas.microsoft.com/office/drawing/2014/main" id="{CE045F88-922D-485F-A239-16057FF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">
            <a:off x="609600" y="2171700"/>
            <a:ext cx="2667000" cy="3619500"/>
          </a:xfrm>
          <a:prstGeom xmlns:a="http://schemas.openxmlformats.org/drawingml/2006/main" prst="roundRect">
            <a:avLst>
              <a:gd name="adj" fmla="val 357"/>
            </a:avLst>
          </a:prstGeom>
          <a:solidFill xmlns:a="http://schemas.openxmlformats.org/drawingml/2006/main">
            <a:srgbClr val="FFB1B6"/>
          </a:solidFill>
          <a:ln xmlns:a="http://schemas.openxmlformats.org/drawingml/2006/main" w="4763">
            <a:solidFill>
              <a:srgbClr val="FFB1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s5-left-k">
            <a:extLst xmlns:a="http://schemas.openxmlformats.org/drawingml/2006/main">
              <a:ext uri="{FF2B5EF4-FFF2-40B4-BE49-F238E27FC236}">
                <a16:creationId xmlns:a16="http://schemas.microsoft.com/office/drawing/2014/main" id="{513095DF-D7D7-437A-9F44-7D34E2C0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АЛЬТЕРНАТИВЫ СЕГОДНЯ</a:t>
            </a:r>
          </a:p>
        </p:txBody>
      </p:sp>
      <p:sp>
        <p:nvSpPr>
          <p:cNvPr id="7" name="s5-left-main">
            <a:extLst xmlns:a="http://schemas.openxmlformats.org/drawingml/2006/main">
              <a:ext uri="{FF2B5EF4-FFF2-40B4-BE49-F238E27FC236}">
                <a16:creationId xmlns:a16="http://schemas.microsoft.com/office/drawing/2014/main" id="{00BCD0ED-CD49-44BD-B71A-D3130A08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171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Ручное ревью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внутри команды</a:t>
            </a:r>
          </a:p>
        </p:txBody>
      </p:sp>
      <p:sp>
        <p:nvSpPr>
          <p:cNvPr id="8" name="s5-left-line">
            <a:extLst xmlns:a="http://schemas.openxmlformats.org/drawingml/2006/main">
              <a:ext uri="{FF2B5EF4-FFF2-40B4-BE49-F238E27FC236}">
                <a16:creationId xmlns:a16="http://schemas.microsoft.com/office/drawing/2014/main" id="{E5C604D1-9653-4CD3-BE43-3DCDB23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5-left-sub">
            <a:extLst xmlns:a="http://schemas.openxmlformats.org/drawingml/2006/main">
              <a:ext uri="{FF2B5EF4-FFF2-40B4-BE49-F238E27FC236}">
                <a16:creationId xmlns:a16="http://schemas.microsoft.com/office/drawing/2014/main" id="{078D4CC7-F863-46C5-BDB4-8EF7648F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2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Универсальные LLM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отдельный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инструмент</a:t>
            </a:r>
          </a:p>
        </p:txBody>
      </p:sp>
      <p:sp>
        <p:nvSpPr>
          <p:cNvPr id="10" name="s5-mid-k">
            <a:extLst xmlns:a="http://schemas.openxmlformats.org/drawingml/2006/main">
              <a:ext uri="{FF2B5EF4-FFF2-40B4-BE49-F238E27FC236}">
                <a16:creationId xmlns:a16="http://schemas.microsoft.com/office/drawing/2014/main" id="{846C811B-BD87-42EB-8A9C-0B06505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РЫНОК РЕШАЕТ ПО ЧАСТЯМ</a:t>
            </a:r>
          </a:p>
        </p:txBody>
      </p:sp>
      <p:sp>
        <p:nvSpPr>
          <p:cNvPr id="11" name="s5-row-n-0">
            <a:extLst xmlns:a="http://schemas.openxmlformats.org/drawingml/2006/main">
              <a:ext uri="{FF2B5EF4-FFF2-40B4-BE49-F238E27FC236}">
                <a16:creationId xmlns:a16="http://schemas.microsoft.com/office/drawing/2014/main" id="{DC0AF621-AC23-497D-8299-ED2CC648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908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s5-row-t-0">
            <a:extLst xmlns:a="http://schemas.openxmlformats.org/drawingml/2006/main">
              <a:ext uri="{FF2B5EF4-FFF2-40B4-BE49-F238E27FC236}">
                <a16:creationId xmlns:a16="http://schemas.microsoft.com/office/drawing/2014/main" id="{DF513F3A-E95B-476C-853D-84CCC594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Качество текста и traceability</a:t>
            </a:r>
          </a:p>
        </p:txBody>
      </p:sp>
      <p:sp>
        <p:nvSpPr>
          <p:cNvPr id="13" name="s5-row-s-0">
            <a:extLst xmlns:a="http://schemas.openxmlformats.org/drawingml/2006/main">
              <a:ext uri="{FF2B5EF4-FFF2-40B4-BE49-F238E27FC236}">
                <a16:creationId xmlns:a16="http://schemas.microsoft.com/office/drawing/2014/main" id="{9791F998-0CA3-406D-AD83-78AADDD4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QVscribe · Jama Connect</a:t>
            </a:r>
          </a:p>
        </p:txBody>
      </p:sp>
      <p:sp>
        <p:nvSpPr>
          <p:cNvPr id="14" name="s5-row-line-0">
            <a:extLst xmlns:a="http://schemas.openxmlformats.org/drawingml/2006/main">
              <a:ext uri="{FF2B5EF4-FFF2-40B4-BE49-F238E27FC236}">
                <a16:creationId xmlns:a16="http://schemas.microsoft.com/office/drawing/2014/main" id="{01F22ABD-CC6D-4755-856C-1B39D6B7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909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5" name="s5-row-n-1">
            <a:extLst xmlns:a="http://schemas.openxmlformats.org/drawingml/2006/main">
              <a:ext uri="{FF2B5EF4-FFF2-40B4-BE49-F238E27FC236}">
                <a16:creationId xmlns:a16="http://schemas.microsoft.com/office/drawing/2014/main" id="{1610AF87-6E11-4394-A721-3009B194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623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s5-row-t-1">
            <a:extLst xmlns:a="http://schemas.openxmlformats.org/drawingml/2006/main">
              <a:ext uri="{FF2B5EF4-FFF2-40B4-BE49-F238E27FC236}">
                <a16:creationId xmlns:a16="http://schemas.microsoft.com/office/drawing/2014/main" id="{49802C63-84F1-4896-853D-F97E6B40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Уточнение спецификаций</a:t>
            </a:r>
          </a:p>
        </p:txBody>
      </p:sp>
      <p:sp>
        <p:nvSpPr>
          <p:cNvPr id="17" name="s5-row-s-1">
            <a:extLst xmlns:a="http://schemas.openxmlformats.org/drawingml/2006/main">
              <a:ext uri="{FF2B5EF4-FFF2-40B4-BE49-F238E27FC236}">
                <a16:creationId xmlns:a16="http://schemas.microsoft.com/office/drawing/2014/main" id="{4DBEE2AB-905E-4F41-B1C9-59538319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243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GitHub Spec Kit · Cucumber</a:t>
            </a:r>
          </a:p>
        </p:txBody>
      </p:sp>
      <p:sp>
        <p:nvSpPr>
          <p:cNvPr id="18" name="s5-row-line-1">
            <a:extLst xmlns:a="http://schemas.openxmlformats.org/drawingml/2006/main">
              <a:ext uri="{FF2B5EF4-FFF2-40B4-BE49-F238E27FC236}">
                <a16:creationId xmlns:a16="http://schemas.microsoft.com/office/drawing/2014/main" id="{82BBBC58-6AA4-47F6-B921-260930F0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624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s5-row-n-2">
            <a:extLst xmlns:a="http://schemas.openxmlformats.org/drawingml/2006/main">
              <a:ext uri="{FF2B5EF4-FFF2-40B4-BE49-F238E27FC236}">
                <a16:creationId xmlns:a16="http://schemas.microsoft.com/office/drawing/2014/main" id="{DEC55799-9F55-4E92-9E02-32DA3F51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339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s5-row-t-2">
            <a:extLst xmlns:a="http://schemas.openxmlformats.org/drawingml/2006/main">
              <a:ext uri="{FF2B5EF4-FFF2-40B4-BE49-F238E27FC236}">
                <a16:creationId xmlns:a16="http://schemas.microsoft.com/office/drawing/2014/main" id="{2F97F66F-D230-4C97-AAC2-C0F570F3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339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Формальные контракты</a:t>
            </a:r>
          </a:p>
        </p:txBody>
      </p:sp>
      <p:sp>
        <p:nvSpPr>
          <p:cNvPr id="21" name="s5-row-s-2">
            <a:extLst xmlns:a="http://schemas.openxmlformats.org/drawingml/2006/main">
              <a:ext uri="{FF2B5EF4-FFF2-40B4-BE49-F238E27FC236}">
                <a16:creationId xmlns:a16="http://schemas.microsoft.com/office/drawing/2014/main" id="{33C8FC91-4BB2-4AF3-93D0-D9536CA0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585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Data Contract CLI · Spectral · Pact</a:t>
            </a:r>
          </a:p>
        </p:txBody>
      </p:sp>
      <p:sp>
        <p:nvSpPr>
          <p:cNvPr id="22" name="s5-right">
            <a:extLst xmlns:a="http://schemas.openxmlformats.org/drawingml/2006/main">
              <a:ext uri="{FF2B5EF4-FFF2-40B4-BE49-F238E27FC236}">
                <a16:creationId xmlns:a16="http://schemas.microsoft.com/office/drawing/2014/main" id="{C922265C-1F66-4DE3-934E-6800C131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">
            <a:off x="8439150" y="2171700"/>
            <a:ext cx="3143250" cy="3619500"/>
          </a:xfrm>
          <a:prstGeom xmlns:a="http://schemas.openxmlformats.org/drawingml/2006/main" prst="roundRect">
            <a:avLst>
              <a:gd name="adj" fmla="val 30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s5-right-k">
            <a:extLst xmlns:a="http://schemas.openxmlformats.org/drawingml/2006/main">
              <a:ext uri="{FF2B5EF4-FFF2-40B4-BE49-F238E27FC236}">
                <a16:creationId xmlns:a16="http://schemas.microsoft.com/office/drawing/2014/main" id="{92F21CA4-3D1B-406B-977D-F08851C9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288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НАШ ПОДХОД</a:t>
            </a:r>
          </a:p>
        </p:txBody>
      </p:sp>
      <p:sp>
        <p:nvSpPr>
          <p:cNvPr id="2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62EB739-3A38-4EEF-BF8C-30158A0B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2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Единый AI review-layer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до передачи в разработку</a:t>
            </a:r>
          </a:p>
        </p:txBody>
      </p:sp>
      <p:sp>
        <p:nvSpPr>
          <p:cNvPr id="25" name="s5-diff-bar-0">
            <a:extLst xmlns:a="http://schemas.openxmlformats.org/drawingml/2006/main">
              <a:ext uri="{FF2B5EF4-FFF2-40B4-BE49-F238E27FC236}">
                <a16:creationId xmlns:a16="http://schemas.microsoft.com/office/drawing/2014/main" id="{E316BFCD-F525-4F7B-83EE-5C85D58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90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5-diff-0">
            <a:extLst xmlns:a="http://schemas.openxmlformats.org/drawingml/2006/main">
              <a:ext uri="{FF2B5EF4-FFF2-40B4-BE49-F238E27FC236}">
                <a16:creationId xmlns:a16="http://schemas.microsoft.com/office/drawing/2014/main" id="{C8144F95-BFDF-4112-85AA-F6FA2DD1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71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контекст команды</a:t>
            </a:r>
          </a:p>
        </p:txBody>
      </p:sp>
      <p:sp>
        <p:nvSpPr>
          <p:cNvPr id="27" name="s5-diff-bar-1">
            <a:extLst xmlns:a="http://schemas.openxmlformats.org/drawingml/2006/main">
              <a:ext uri="{FF2B5EF4-FFF2-40B4-BE49-F238E27FC236}">
                <a16:creationId xmlns:a16="http://schemas.microsoft.com/office/drawing/2014/main" id="{52ECDFF2-FFC4-4EFA-B570-4B278980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00525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5-diff-1">
            <a:extLst xmlns:a="http://schemas.openxmlformats.org/drawingml/2006/main">
              <a:ext uri="{FF2B5EF4-FFF2-40B4-BE49-F238E27FC236}">
                <a16:creationId xmlns:a16="http://schemas.microsoft.com/office/drawing/2014/main" id="{BBBB09DF-B7E4-40C1-BCC8-0FAF74C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81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адресность до фрагмента</a:t>
            </a:r>
          </a:p>
        </p:txBody>
      </p:sp>
      <p:sp>
        <p:nvSpPr>
          <p:cNvPr id="29" name="s5-diff-bar-2">
            <a:extLst xmlns:a="http://schemas.openxmlformats.org/drawingml/2006/main">
              <a:ext uri="{FF2B5EF4-FFF2-40B4-BE49-F238E27FC236}">
                <a16:creationId xmlns:a16="http://schemas.microsoft.com/office/drawing/2014/main" id="{D175DF1C-6602-48C0-AFAE-3181B81A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1010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5-diff-2">
            <a:extLst xmlns:a="http://schemas.openxmlformats.org/drawingml/2006/main">
              <a:ext uri="{FF2B5EF4-FFF2-40B4-BE49-F238E27FC236}">
                <a16:creationId xmlns:a16="http://schemas.microsoft.com/office/drawing/2014/main" id="{1E1BD95B-0AF2-4814-884C-CDBCA2A0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приоритет и объяснение</a:t>
            </a:r>
          </a:p>
        </p:txBody>
      </p:sp>
      <p:sp>
        <p:nvSpPr>
          <p:cNvPr id="31" name="s5-diff-bar-3">
            <a:extLst xmlns:a="http://schemas.openxmlformats.org/drawingml/2006/main">
              <a:ext uri="{FF2B5EF4-FFF2-40B4-BE49-F238E27FC236}">
                <a16:creationId xmlns:a16="http://schemas.microsoft.com/office/drawing/2014/main" id="{20F64675-8C54-4687-ACC6-0EABDE40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19675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5-diff-3">
            <a:extLst xmlns:a="http://schemas.openxmlformats.org/drawingml/2006/main">
              <a:ext uri="{FF2B5EF4-FFF2-40B4-BE49-F238E27FC236}">
                <a16:creationId xmlns:a16="http://schemas.microsoft.com/office/drawing/2014/main" id="{2754F008-7739-4549-A02F-A3C4182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42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решение остаётся у человека</a:t>
            </a:r>
          </a:p>
        </p:txBody>
      </p:sp>
      <p:sp>
        <p:nvSpPr>
          <p:cNvPr id="33" name="s5-foot">
            <a:extLst xmlns:a="http://schemas.openxmlformats.org/drawingml/2006/main">
              <a:ext uri="{FF2B5EF4-FFF2-40B4-BE49-F238E27FC236}">
                <a16:creationId xmlns:a16="http://schemas.microsoft.com/office/drawing/2014/main" id="{5337C489-54D5-447F-B498-E884F24C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Не ещё один чат, а воспроизводимый этап работы аналитика.</a:t>
            </a:r>
          </a:p>
        </p:txBody>
      </p:sp>
    </p:spTree>
    <p:extLst>
      <p:ext uri="{BB962C8B-B14F-4D97-AF65-F5344CB8AC3E}">
        <p14:creationId xmlns:p14="http://schemas.microsoft.com/office/powerpoint/2010/main" val="1572677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6">
            <a:extLst xmlns:a="http://schemas.openxmlformats.org/drawingml/2006/main">
              <a:ext uri="{FF2B5EF4-FFF2-40B4-BE49-F238E27FC236}">
                <a16:creationId xmlns:a16="http://schemas.microsoft.com/office/drawing/2014/main" id="{96437EDB-5C46-4C98-9993-7B239821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6">
            <a:extLst xmlns:a="http://schemas.openxmlformats.org/drawingml/2006/main">
              <a:ext uri="{FF2B5EF4-FFF2-40B4-BE49-F238E27FC236}">
                <a16:creationId xmlns:a16="http://schemas.microsoft.com/office/drawing/2014/main" id="{AF55712C-54D3-4B7B-8012-567668E3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ROADMAP · ПРОМЕЖУТОЧНАЯ ВЕРСИЯ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078BB84C-41C3-4CFA-8E2F-AF853B06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ctr">
            <a:normAutofit fontScale="98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Три этапа превращают идею в самостоятельный продукт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B5B09F00-4174-4B22-9648-8A8FE30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B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707A"/>
                </a:solidFill>
                <a:latin typeface="Arial"/>
                <a:ea typeface="Arial"/>
                <a:cs typeface="Arial"/>
              </a:rPr>
              <a:t>Реализуем весь контур, зафиксированный в базе знаний: от навыка до сервиса для команд.</a:t>
            </a:r>
          </a:p>
        </p:txBody>
      </p:sp>
      <p:sp>
        <p:nvSpPr>
          <p:cNvPr id="5" name="s6-status">
            <a:extLst xmlns:a="http://schemas.openxmlformats.org/drawingml/2006/main">
              <a:ext uri="{FF2B5EF4-FFF2-40B4-BE49-F238E27FC236}">
                <a16:creationId xmlns:a16="http://schemas.microsoft.com/office/drawing/2014/main" id="{7658F121-B23D-4EBD-A013-C9370205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"/>
            <a:ext cx="2095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status-t">
            <a:extLst xmlns:a="http://schemas.openxmlformats.org/drawingml/2006/main">
              <a:ext uri="{FF2B5EF4-FFF2-40B4-BE49-F238E27FC236}">
                <a16:creationId xmlns:a16="http://schemas.microsoft.com/office/drawing/2014/main" id="{2DDA4B1C-339A-4A24-B1D7-EB50B243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DRAFT · 3 ЭТАПА</a:t>
            </a:r>
          </a:p>
        </p:txBody>
      </p:sp>
      <p:sp>
        <p:nvSpPr>
          <p:cNvPr id="7" name="s6-timeline">
            <a:extLst xmlns:a="http://schemas.openxmlformats.org/drawingml/2006/main">
              <a:ext uri="{FF2B5EF4-FFF2-40B4-BE49-F238E27FC236}">
                <a16:creationId xmlns:a16="http://schemas.microsoft.com/office/drawing/2014/main" id="{49652646-BCD0-47D4-88FB-878C10AA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8763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28575">
            <a:solidFill>
              <a:srgbClr val="202124"/>
            </a:solidFill>
            <a:prstDash val="solid"/>
          </a:ln>
        </p:spPr>
      </p:sp>
      <p:sp>
        <p:nvSpPr>
          <p:cNvPr id="8" name="s6-node-0">
            <a:extLst xmlns:a="http://schemas.openxmlformats.org/drawingml/2006/main">
              <a:ext uri="{FF2B5EF4-FFF2-40B4-BE49-F238E27FC236}">
                <a16:creationId xmlns:a16="http://schemas.microsoft.com/office/drawing/2014/main" id="{F565889C-F6A2-4C7A-9226-D0CE1B85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81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11"/>
          </a:solidFill>
          <a:ln xmlns:a="http://schemas.openxmlformats.org/drawingml/2006/main" w="28575">
            <a:solidFill>
              <a:srgbClr val="E30611"/>
            </a:solidFill>
            <a:prstDash val="solid"/>
          </a:ln>
        </p:spPr>
      </p:sp>
      <p:sp>
        <p:nvSpPr>
          <p:cNvPr id="9" name="s6-node-t-0">
            <a:extLst xmlns:a="http://schemas.openxmlformats.org/drawingml/2006/main">
              <a:ext uri="{FF2B5EF4-FFF2-40B4-BE49-F238E27FC236}">
                <a16:creationId xmlns:a16="http://schemas.microsoft.com/office/drawing/2014/main" id="{973A36A7-B266-4178-8A03-B37F221C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86025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s6-title-0">
            <a:extLst xmlns:a="http://schemas.openxmlformats.org/drawingml/2006/main">
              <a:ext uri="{FF2B5EF4-FFF2-40B4-BE49-F238E27FC236}">
                <a16:creationId xmlns:a16="http://schemas.microsoft.com/office/drawing/2014/main" id="{4031B361-A3B0-4A57-BF2F-D94519F2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s6-body-0">
            <a:extLst xmlns:a="http://schemas.openxmlformats.org/drawingml/2006/main">
              <a:ext uri="{FF2B5EF4-FFF2-40B4-BE49-F238E27FC236}">
                <a16:creationId xmlns:a16="http://schemas.microsoft.com/office/drawing/2014/main" id="{6D91157D-277E-489E-836A-5EF184F0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6-gate-0">
            <a:extLst xmlns:a="http://schemas.openxmlformats.org/drawingml/2006/main">
              <a:ext uri="{FF2B5EF4-FFF2-40B4-BE49-F238E27FC236}">
                <a16:creationId xmlns:a16="http://schemas.microsoft.com/office/drawing/2014/main" id="{9616730A-B80B-4C39-BF43-C7C52570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">
            <a:off x="857250" y="3048000"/>
            <a:ext cx="2857500" cy="2476500"/>
          </a:xfrm>
          <a:prstGeom xmlns:a="http://schemas.openxmlformats.org/drawingml/2006/main" prst="roundRect">
            <a:avLst>
              <a:gd name="adj" fmla="val 385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s6-gate-t-0">
            <a:extLst xmlns:a="http://schemas.openxmlformats.org/drawingml/2006/main">
              <a:ext uri="{FF2B5EF4-FFF2-40B4-BE49-F238E27FC236}">
                <a16:creationId xmlns:a16="http://schemas.microsoft.com/office/drawing/2014/main" id="{8BCB55BA-E7A0-477B-AFFA-F5B5B53A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2362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PoC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в AI-агенте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707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071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Переносимый навык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подготовка документов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адресный отчёт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707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071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Проверяем полный сценарий</a:t>
            </a:r>
          </a:p>
        </p:txBody>
      </p:sp>
      <p:sp>
        <p:nvSpPr>
          <p:cNvPr id="14" name="s6-node-1">
            <a:extLst xmlns:a="http://schemas.openxmlformats.org/drawingml/2006/main">
              <a:ext uri="{FF2B5EF4-FFF2-40B4-BE49-F238E27FC236}">
                <a16:creationId xmlns:a16="http://schemas.microsoft.com/office/drawing/2014/main" id="{B020F1A2-9B49-42B1-88E5-2B0CCA69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81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30611"/>
            </a:solidFill>
            <a:prstDash val="solid"/>
          </a:ln>
        </p:spPr>
      </p:sp>
      <p:sp>
        <p:nvSpPr>
          <p:cNvPr id="15" name="s6-node-t-1">
            <a:extLst xmlns:a="http://schemas.openxmlformats.org/drawingml/2006/main">
              <a:ext uri="{FF2B5EF4-FFF2-40B4-BE49-F238E27FC236}">
                <a16:creationId xmlns:a16="http://schemas.microsoft.com/office/drawing/2014/main" id="{ACF397B2-EDBF-4341-ABD4-BB8F7340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86025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s6-title-1">
            <a:extLst xmlns:a="http://schemas.openxmlformats.org/drawingml/2006/main">
              <a:ext uri="{FF2B5EF4-FFF2-40B4-BE49-F238E27FC236}">
                <a16:creationId xmlns:a16="http://schemas.microsoft.com/office/drawing/2014/main" id="{5C75CD3B-2A44-4AE9-9B2C-26F0F50C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195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s6-body-1">
            <a:extLst xmlns:a="http://schemas.openxmlformats.org/drawingml/2006/main">
              <a:ext uri="{FF2B5EF4-FFF2-40B4-BE49-F238E27FC236}">
                <a16:creationId xmlns:a16="http://schemas.microsoft.com/office/drawing/2014/main" id="{4978CE88-B781-427F-9BAC-68FAF9E8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053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s6-gate-1">
            <a:extLst xmlns:a="http://schemas.openxmlformats.org/drawingml/2006/main">
              <a:ext uri="{FF2B5EF4-FFF2-40B4-BE49-F238E27FC236}">
                <a16:creationId xmlns:a16="http://schemas.microsoft.com/office/drawing/2014/main" id="{9044E3B4-336A-4A06-8466-C0304BA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">
            <a:off x="4667250" y="3048000"/>
            <a:ext cx="2857500" cy="2476500"/>
          </a:xfrm>
          <a:prstGeom xmlns:a="http://schemas.openxmlformats.org/drawingml/2006/main" prst="roundRect">
            <a:avLst>
              <a:gd name="adj" fmla="val 385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s6-gate-t-1">
            <a:extLst xmlns:a="http://schemas.openxmlformats.org/drawingml/2006/main">
              <a:ext uri="{FF2B5EF4-FFF2-40B4-BE49-F238E27FC236}">
                <a16:creationId xmlns:a16="http://schemas.microsoft.com/office/drawing/2014/main" id="{4CF4182D-85AB-421E-A92F-B050EBC1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2362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Самостоятельный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движок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Сменяемые LLM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управление запуском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повторяемые отчёты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Берём исполнение под контроль</a:t>
            </a:r>
          </a:p>
        </p:txBody>
      </p:sp>
      <p:sp>
        <p:nvSpPr>
          <p:cNvPr id="20" name="s6-node-2">
            <a:extLst xmlns:a="http://schemas.openxmlformats.org/drawingml/2006/main">
              <a:ext uri="{FF2B5EF4-FFF2-40B4-BE49-F238E27FC236}">
                <a16:creationId xmlns:a16="http://schemas.microsoft.com/office/drawing/2014/main" id="{7783992E-0156-4380-B375-F5DA0C3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30611"/>
            </a:solidFill>
            <a:prstDash val="solid"/>
          </a:ln>
        </p:spPr>
      </p:sp>
      <p:sp>
        <p:nvSpPr>
          <p:cNvPr id="21" name="s6-node-t-2">
            <a:extLst xmlns:a="http://schemas.openxmlformats.org/drawingml/2006/main">
              <a:ext uri="{FF2B5EF4-FFF2-40B4-BE49-F238E27FC236}">
                <a16:creationId xmlns:a16="http://schemas.microsoft.com/office/drawing/2014/main" id="{A164C744-42F6-458E-915C-CD0FBBC7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86025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s6-title-2">
            <a:extLst xmlns:a="http://schemas.openxmlformats.org/drawingml/2006/main">
              <a:ext uri="{FF2B5EF4-FFF2-40B4-BE49-F238E27FC236}">
                <a16:creationId xmlns:a16="http://schemas.microsoft.com/office/drawing/2014/main" id="{7713ADE8-F779-4981-A2D1-4158B112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195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" name="s6-body-2">
            <a:extLst xmlns:a="http://schemas.openxmlformats.org/drawingml/2006/main">
              <a:ext uri="{FF2B5EF4-FFF2-40B4-BE49-F238E27FC236}">
                <a16:creationId xmlns:a16="http://schemas.microsoft.com/office/drawing/2014/main" id="{9B7A2EA0-73E3-4CFA-8750-2BB30D30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6-gate-2">
            <a:extLst xmlns:a="http://schemas.openxmlformats.org/drawingml/2006/main">
              <a:ext uri="{FF2B5EF4-FFF2-40B4-BE49-F238E27FC236}">
                <a16:creationId xmlns:a16="http://schemas.microsoft.com/office/drawing/2014/main" id="{7A6AC752-7F1A-48CC-9B5C-C8B54989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">
            <a:off x="8477250" y="3048000"/>
            <a:ext cx="2857500" cy="2476500"/>
          </a:xfrm>
          <a:prstGeom xmlns:a="http://schemas.openxmlformats.org/drawingml/2006/main" prst="roundRect">
            <a:avLst>
              <a:gd name="adj" fmla="val 385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4763">
            <a:solidFill>
              <a:srgbClr val="FFF2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s6-gate-t-2">
            <a:extLst xmlns:a="http://schemas.openxmlformats.org/drawingml/2006/main">
              <a:ext uri="{FF2B5EF4-FFF2-40B4-BE49-F238E27FC236}">
                <a16:creationId xmlns:a16="http://schemas.microsoft.com/office/drawing/2014/main" id="{F2CE6B27-E331-4D63-9360-98671A1D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76600"/>
            <a:ext cx="2362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Сервис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 фронтендом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Работа аналитиков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история и доступы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разделение команд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Даём самостоятельный доступ</a:t>
            </a:r>
          </a:p>
        </p:txBody>
      </p:sp>
      <p:sp>
        <p:nvSpPr>
          <p:cNvPr id="26" name="s6-node-3">
            <a:extLst xmlns:a="http://schemas.openxmlformats.org/drawingml/2006/main">
              <a:ext uri="{FF2B5EF4-FFF2-40B4-BE49-F238E27FC236}">
                <a16:creationId xmlns:a16="http://schemas.microsoft.com/office/drawing/2014/main" id="{3E144DB4-43D1-4F61-8303-4DB6997E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43200"/>
            <a:ext cx="609600" cy="609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s6-node-t-3">
            <a:extLst xmlns:a="http://schemas.openxmlformats.org/drawingml/2006/main">
              <a:ext uri="{FF2B5EF4-FFF2-40B4-BE49-F238E27FC236}">
                <a16:creationId xmlns:a16="http://schemas.microsoft.com/office/drawing/2014/main" id="{0986F53F-962A-493F-A567-B78F4EA1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479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306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3061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s6-title-3">
            <a:extLst xmlns:a="http://schemas.openxmlformats.org/drawingml/2006/main">
              <a:ext uri="{FF2B5EF4-FFF2-40B4-BE49-F238E27FC236}">
                <a16:creationId xmlns:a16="http://schemas.microsoft.com/office/drawing/2014/main" id="{AB03E16E-9500-48B0-AC55-CF1400C3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195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9" name="s6-body-3">
            <a:extLst xmlns:a="http://schemas.openxmlformats.org/drawingml/2006/main">
              <a:ext uri="{FF2B5EF4-FFF2-40B4-BE49-F238E27FC236}">
                <a16:creationId xmlns:a16="http://schemas.microsoft.com/office/drawing/2014/main" id="{D1BBFE01-D117-4970-B870-7EF5B49E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s6-gate-3">
            <a:extLst xmlns:a="http://schemas.openxmlformats.org/drawingml/2006/main">
              <a:ext uri="{FF2B5EF4-FFF2-40B4-BE49-F238E27FC236}">
                <a16:creationId xmlns:a16="http://schemas.microsoft.com/office/drawing/2014/main" id="{3537F845-9C01-4E12-B7E9-67EC3A78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24450"/>
            <a:ext cx="192405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s6-gate-t-3">
            <a:extLst xmlns:a="http://schemas.openxmlformats.org/drawingml/2006/main">
              <a:ext uri="{FF2B5EF4-FFF2-40B4-BE49-F238E27FC236}">
                <a16:creationId xmlns:a16="http://schemas.microsoft.com/office/drawing/2014/main" id="{435A46A3-0CD8-4BCE-B40A-2C090D3F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387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2" name="s6-boundary">
            <a:extLst xmlns:a="http://schemas.openxmlformats.org/drawingml/2006/main">
              <a:ext uri="{FF2B5EF4-FFF2-40B4-BE49-F238E27FC236}">
                <a16:creationId xmlns:a16="http://schemas.microsoft.com/office/drawing/2014/main" id="{0E0A33B1-4588-40DC-83A3-083590E5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B80D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0D18"/>
                </a:solidFill>
                <a:latin typeface="Arial"/>
                <a:ea typeface="Arial"/>
                <a:cs typeface="Arial"/>
              </a:rPr>
              <a:t>Каждый этап наследует ядро предыдущего — без пересборки логики ревью.</a:t>
            </a:r>
          </a:p>
        </p:txBody>
      </p:sp>
    </p:spTree>
    <p:extLst>
      <p:ext uri="{BB962C8B-B14F-4D97-AF65-F5344CB8AC3E}">
        <p14:creationId xmlns:p14="http://schemas.microsoft.com/office/powerpoint/2010/main" val="751494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2026-09-03T21:44:11.2750000Z</dcterms:created>
  <dcterms:modified xsi:type="dcterms:W3CDTF">2026-09-03T21:44:11.2750000Z</dcterms:modified>
</coreProperties>
</file>